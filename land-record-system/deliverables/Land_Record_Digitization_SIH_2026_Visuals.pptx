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buNone/>
    </a:defPPr>
    <a:lvl1pPr algn="l" defTabSz="457200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/>
        <a:ea typeface="Calibri"/>
        <a:cs typeface="Calibri"/>
      </a:defRPr>
    </a:lvl1pPr>
    <a:lvl2pPr marL="457200" algn="l" defTabSz="457200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/>
        <a:ea typeface="Calibri"/>
        <a:cs typeface="Calibri"/>
      </a:defRPr>
    </a:lvl2pPr>
    <a:lvl3pPr marL="914400" algn="l" defTabSz="457200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/>
        <a:ea typeface="Calibri"/>
        <a:cs typeface="Calibri"/>
      </a:defRPr>
    </a:lvl3pPr>
    <a:lvl4pPr marL="1371600" algn="l" defTabSz="457200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/>
        <a:ea typeface="Calibri"/>
        <a:cs typeface="Calibri"/>
      </a:defRPr>
    </a:lvl4pPr>
    <a:lvl5pPr marL="1828800" algn="l" defTabSz="457200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/>
        <a:ea typeface="Calibri"/>
        <a:cs typeface="Calibri"/>
      </a:defRPr>
    </a:lvl5pPr>
    <a:lvl6pPr marL="2286000" algn="l" defTabSz="914400">
      <a:buNone/>
      <a:defRPr kern="1200">
        <a:solidFill>
          <a:schemeClr val="tx1"/>
        </a:solidFill>
        <a:latin typeface="Calibri"/>
        <a:ea typeface="Calibri"/>
        <a:cs typeface="Calibri"/>
      </a:defRPr>
    </a:lvl6pPr>
    <a:lvl7pPr marL="2743200" algn="l" defTabSz="914400">
      <a:buNone/>
      <a:defRPr kern="1200">
        <a:solidFill>
          <a:schemeClr val="tx1"/>
        </a:solidFill>
        <a:latin typeface="Calibri"/>
        <a:ea typeface="Calibri"/>
        <a:cs typeface="Calibri"/>
      </a:defRPr>
    </a:lvl7pPr>
    <a:lvl8pPr marL="3200400" algn="l" defTabSz="914400">
      <a:buNone/>
      <a:defRPr kern="1200">
        <a:solidFill>
          <a:schemeClr val="tx1"/>
        </a:solidFill>
        <a:latin typeface="Calibri"/>
        <a:ea typeface="Calibri"/>
        <a:cs typeface="Calibri"/>
      </a:defRPr>
    </a:lvl8pPr>
    <a:lvl9pPr marL="3657600" algn="l" defTabSz="914400">
      <a:buNone/>
      <a:defRPr kern="1200">
        <a:solidFill>
          <a:schemeClr val="tx1"/>
        </a:solidFill>
        <a:latin typeface="Calibri"/>
        <a:ea typeface="Calibri"/>
        <a:cs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endParaRPr/>
          </a:p>
          <a:p>
            <a:br/>
            <a:r>
              <a:t>Sources: https://dolr.gov.in/en/document-category/program-dilrmp/</a:t>
            </a:r>
            <a:br/>
            <a:r>
              <a:t>https://ai.google.dev/gemini-api/docs</a:t>
            </a:r>
            <a:br/>
            <a:r>
              <a:t>https://tesseract-ocr.github.io/tessdoc/</a:t>
            </a:r>
            <a:br/>
            <a:r>
              <a:t>Project source: README.md and application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3070D-EC4A-4FE9-B091-7C41A23879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1066BA-C4B1-4154-8804-470A7C323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198B6-813B-4455-A9BD-F1CCBEB8CCD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E60792E3-D524-454C-8AFD-A91972900BCB}" type="datetime1">
              <a:t>10/23/2026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6FD91-C0C0-4216-9BAC-0715BDEC893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8C082-0114-43DD-B8AB-95ADE10D2B9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5B7E1BAA-A38D-40DE-B22C-DF9BD7D8205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04814-7C31-402E-B8CE-107AD2421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71F8B-9C02-49C9-8839-FAB754C27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9C8117-32DF-4BA1-B8B4-EFF0B3BB2A4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708B7524-32A2-4C20-A58C-BC3BAA1042FC}" type="datetime1">
              <a:t>10/23/2026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C97467-F7B0-445A-8AC8-90C0F055887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51706-0582-4B92-B6D1-19462BB0F4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677C3CE7-23F7-4828-823C-E0205DF2C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7778C-29CA-49E5-A66D-AEB2BA1FA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B367B9-D351-4694-9634-87A2AD46CE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366A7-2A60-44F9-BA1F-187334E38A4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1E994447-D6B2-43BB-A877-57F1A267B999}" type="datetime1">
              <a:t>10/23/2026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587CE9-1FA1-4751-AC76-C9D24A4CC2A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72C450-84DC-4653-B3D7-DA283AA089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41DB31D2-2A87-4F4C-A9AD-05C6CC2B321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8E315-D9FF-44E6-8504-99087815D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C1FF4-9C8F-49C8-BF3A-5FD773C5C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F6DBB9-4C40-4315-A34E-1B5ADE5D657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E27997B-DB01-462E-AA3D-3E54D78BDEA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68920E16-BD35-483C-AA6B-346FC7E46DEA}" type="datetime1">
              <a:t>10/23/2026</a:t>
            </a:fld>
            <a:endParaRPr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8947591-7136-4A92-831E-6BFF9B6818D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3F1B8B9-EF61-4213-94D9-E159225233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E1FC16D9-1635-4844-816A-0A8A2160FAD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CD013-31E6-4A35-8C97-A7BF2B5FC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E90FFD-BAD5-4BFA-951D-A8D56700A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AED5E3-DBFA-44BF-8D13-D242044FEE6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2D8100-4281-4756-91C3-969BB3BFBE6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E1AFF1-083C-4362-95CD-7032AA9770DC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176C6FD-4748-470D-AF3D-1155ADAED81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2FEAC6F8-5103-4FC0-A69E-5C6AE6469DA8}" type="datetime1">
              <a:t>10/23/2026</a:t>
            </a:fld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D126E7D-156F-4191-88B6-9AE454A7C1D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295DB4-7C3A-42F2-8100-E111003927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71C4100A-98DE-4944-910A-A93F5CA9F72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F6425-95A2-4718-8288-DE7BB6F7D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29D526C-2FD0-4DED-963B-FFC8A723919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C60C6921-0627-4C8F-83D5-0CF936D2FFDD}" type="datetime1">
              <a:t>10/23/2026</a:t>
            </a:fld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7F7DD42-620E-443D-BD80-4EF997C39CC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2B5847C-7A86-451F-93BF-E8B16A5C24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6A63342B-5A73-45DC-864D-086DE78037E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815E6AC-BF5B-4194-AF7A-F9402461CC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2FF08AD7-8103-40F8-983C-E2BA6BB9CBE0}" type="datetime1">
              <a:t>10/23/2026</a:t>
            </a:fld>
            <a:endParaRPr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3360747-79CA-4718-9803-2036AC47A83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CE39BC1-B63B-4D7C-AA44-0E111E264A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B635AFB3-1ACD-44AC-8702-86B1729DF03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51A91-CD5D-423E-AE2C-C10178D97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6FFCD-805F-45D3-B22E-3059EB647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30C2BC-F968-4317-A41A-3263CAB4175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346CB5D-C1CF-4857-9FD5-D2C1085F227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DF8C06B4-9380-4A4D-AF49-A3596E17DAF5}" type="datetime1">
              <a:t>10/23/2026</a:t>
            </a:fld>
            <a:endParaRPr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5A713AA-9836-4582-A129-BEE8C5FD299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A5A5FF9-2EC6-46F5-B70A-675A2F08B0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05CF15F3-5E77-4C57-9E21-50D6D1D6C02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A9CCF-2EA6-4784-92F7-310EBD903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83128A-728A-4D93-90B8-B384F2ED21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buNone/>
            </a:pPr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FE76DF-0741-4DDD-B1AA-DF3EA0F1F66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DB18E26-9BD1-4A0C-9AC6-92ADAD76A12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EF7FDEF1-C582-4E22-9E77-D68326471F28}" type="datetime1">
              <a:t>10/23/2026</a:t>
            </a:fld>
            <a:endParaRPr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9E7D8D8-07F1-4650-BD15-FFA26B8E4F2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44A4BCC-5081-47C3-BF4E-3270A3DC91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1242169A-B3C7-4FB6-967F-AF95F4EB331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0F0AE-70E3-4D01-A59F-0A29F18A2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243B8D-AFEC-48F5-AC59-9363EF99C3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BD190-69FF-4658-8976-424E4C2F5D9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053C3A68-6922-42D3-8905-ECC2D82A3469}" type="datetime1">
              <a:t>10/23/2026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F4C397-3FB9-4EB5-B557-27A356E1953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71638-A914-454E-B319-FA1CA88427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94FDD027-5576-4F27-AAB6-1D994836EE7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83A3E4-E4D2-4662-9A9E-64F2E0F24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F6DD1F-7A2C-410C-91C8-10D388DB73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AC337-9959-4E9E-8DB6-5CAB5F25DDD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CB69E9F4-7604-4950-A8B2-8ACDEDB1506E}" type="datetime1">
              <a:t>10/23/2026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4296A-7F1B-4C76-99E4-7C9CB526CD8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97CF2-DC47-4709-AF92-366AE1F6A8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2957CE61-8714-431B-A40A-01B1C5541AB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2720512F-53E8-4F48-97BB-F5569074F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/>
          <a:lstStyle/>
          <a:p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18E6026C-F1AA-4D53-B31B-EE792ECAD7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F7D95-41AC-485C-B147-E89079A8535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anchor="ctr"/>
          <a:lstStyle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>
            <a:fld id="{780A9602-A9A9-453F-AEF1-37B5837E02CD}" type="datetime1">
              <a:t>10/23/2026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CD9D8-E4C5-404D-B9D1-8417D423DCE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60DC2-0D78-4BF9-AD72-089C5940201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anchor="ctr"/>
          <a:lstStyle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>
            <a:fld id="{1411BA53-830D-4830-BB65-E58DBE17D0B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esseract-ocr.github.io/tessdoc/" TargetMode="External"/><Relationship Id="rId5" Type="http://schemas.openxmlformats.org/officeDocument/2006/relationships/hyperlink" Target="https://ai.google.dev/gemini-api/docs" TargetMode="External"/><Relationship Id="rId4" Type="http://schemas.openxmlformats.org/officeDocument/2006/relationships/hyperlink" Target="https://dolr.gov.in/en/document-category/program-dilrm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</a:extLst>
          </p:cNvPr>
          <p:cNvSpPr>
            <a:spLocks noGrp="1"/>
          </p:cNvSpPr>
          <p:nvPr/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/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A83670-A74E-4182-9B00-02615E6583A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>
            <a:extLst>
              <a:ext uri="{FF2B5EF4-FFF2-40B4-BE49-F238E27FC236}">
                <a16:creationId xmlns:a16="http://schemas.microsoft.com/office/drawing/2014/main" id="{EEFD6F8D-2049-451B-B870-EEBD54E19D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r>
              <a:rPr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SIH 2026 PROJECT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DCFDAAE-662A-48DA-989C-07BEBB6B8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sz="40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LAND RECORD SYSTEM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F4079A-0145-43E4-AD7D-E7DDB1D73609}"/>
              </a:ext>
            </a:extLst>
          </p:cNvPr>
          <p:cNvSpPr>
            <a:spLocks noGrp="1"/>
          </p:cNvSpPr>
          <p:nvPr/>
        </p:nvSpPr>
        <p:spPr>
          <a:xfrm>
            <a:off x="331286" y="2076450"/>
            <a:ext cx="592455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PS ID: Add from SIH portal</a:t>
            </a:r>
          </a:p>
          <a:p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Project: Land Record System</a:t>
            </a:r>
          </a:p>
          <a:p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Focus: AI-assisted digitization</a:t>
            </a:r>
          </a:p>
          <a:p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PS Category: Software</a:t>
            </a:r>
          </a:p>
          <a:p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Team ID / name: Add from SIH portal</a:t>
            </a:r>
          </a:p>
          <a:p>
            <a:pPr marL="285750" indent="-285750" algn="just">
              <a:lnSpc>
                <a:spcPct val="200000"/>
              </a:lnSpc>
              <a:buFont typeface="Arial"/>
              <a:buChar char="•"/>
            </a:pPr>
            <a:endParaRPr sz="2400" b="1">
              <a:latin typeface="Arial"/>
              <a:ea typeface="Arial"/>
              <a:cs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C4C3FB-EF88-4305-99C5-E9E291FBF0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641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393" name="Connector: Elbow 15392">
            <a:extLst>
              <a:ext uri="{FF2B5EF4-FFF2-40B4-BE49-F238E27FC236}">
                <a16:creationId xmlns:a16="http://schemas.microsoft.com/office/drawing/2014/main" id="{0C5DD676-724B-4FF7-989C-3D843C4A8CF3}"/>
              </a:ext>
            </a:extLst>
          </p:cNvPr>
          <p:cNvCxnSpPr>
            <a:stCxn id="15386" idx="3"/>
            <a:endCxn id="15378" idx="2"/>
          </p:cNvCxnSpPr>
          <p:nvPr/>
        </p:nvCxnSpPr>
        <p:spPr>
          <a:xfrm flipV="1">
            <a:off x="7772400" y="3829050"/>
            <a:ext cx="1990725" cy="1314450"/>
          </a:xfrm>
          <a:prstGeom prst="bentConnector2">
            <a:avLst/>
          </a:prstGeom>
          <a:ln w="20955">
            <a:solidFill>
              <a:srgbClr val="248454"/>
            </a:solidFill>
            <a:prstDash val="solid"/>
            <a:tailEnd type="arrow" w="med" len="med"/>
          </a:ln>
        </p:spPr>
      </p:cxnSp>
      <p:cxnSp>
        <p:nvCxnSpPr>
          <p:cNvPr id="15391" name="Connector: Elbow 15390">
            <a:extLst>
              <a:ext uri="{FF2B5EF4-FFF2-40B4-BE49-F238E27FC236}">
                <a16:creationId xmlns:a16="http://schemas.microsoft.com/office/drawing/2014/main" id="{2824CE10-5C20-48AB-9889-3ED111F2171E}"/>
              </a:ext>
            </a:extLst>
          </p:cNvPr>
          <p:cNvCxnSpPr>
            <a:stCxn id="15373" idx="2"/>
            <a:endCxn id="15386" idx="0"/>
          </p:cNvCxnSpPr>
          <p:nvPr/>
        </p:nvCxnSpPr>
        <p:spPr>
          <a:xfrm flipH="1">
            <a:off x="6115050" y="3829050"/>
            <a:ext cx="981075" cy="857250"/>
          </a:xfrm>
          <a:prstGeom prst="bentConnector4">
            <a:avLst>
              <a:gd name="adj1" fmla="val 0"/>
              <a:gd name="adj2" fmla="val 50000"/>
            </a:avLst>
          </a:prstGeom>
          <a:ln w="20955">
            <a:solidFill>
              <a:srgbClr val="B57912"/>
            </a:solidFill>
            <a:prstDash val="dash"/>
            <a:tailEnd type="arrow" w="med" len="med"/>
          </a:ln>
        </p:spPr>
      </p:cxnSp>
      <p:cxnSp>
        <p:nvCxnSpPr>
          <p:cNvPr id="15385" name="Straight Arrow Connector 15384">
            <a:extLst>
              <a:ext uri="{FF2B5EF4-FFF2-40B4-BE49-F238E27FC236}">
                <a16:creationId xmlns:a16="http://schemas.microsoft.com/office/drawing/2014/main" id="{3D787EC7-AF93-4545-8B3F-7E3AC8AB6906}"/>
              </a:ext>
            </a:extLst>
          </p:cNvPr>
          <p:cNvCxnSpPr>
            <a:stCxn id="15373" idx="3"/>
            <a:endCxn id="15378" idx="1"/>
          </p:cNvCxnSpPr>
          <p:nvPr/>
        </p:nvCxnSpPr>
        <p:spPr>
          <a:xfrm>
            <a:off x="8191500" y="2981325"/>
            <a:ext cx="476250" cy="0"/>
          </a:xfrm>
          <a:prstGeom prst="straightConnector1">
            <a:avLst/>
          </a:prstGeom>
          <a:ln w="24765">
            <a:solidFill>
              <a:srgbClr val="0070C0"/>
            </a:solidFill>
            <a:prstDash val="solid"/>
            <a:tailEnd type="arrow" w="med" len="med"/>
          </a:ln>
        </p:spPr>
      </p:cxnSp>
      <p:cxnSp>
        <p:nvCxnSpPr>
          <p:cNvPr id="15384" name="Straight Arrow Connector 15383">
            <a:extLst>
              <a:ext uri="{FF2B5EF4-FFF2-40B4-BE49-F238E27FC236}">
                <a16:creationId xmlns:a16="http://schemas.microsoft.com/office/drawing/2014/main" id="{118C3F79-9725-4BAF-A75E-CC7AB148927F}"/>
              </a:ext>
            </a:extLst>
          </p:cNvPr>
          <p:cNvCxnSpPr>
            <a:stCxn id="15368" idx="3"/>
            <a:endCxn id="15373" idx="1"/>
          </p:cNvCxnSpPr>
          <p:nvPr/>
        </p:nvCxnSpPr>
        <p:spPr>
          <a:xfrm>
            <a:off x="5524500" y="2981325"/>
            <a:ext cx="476250" cy="0"/>
          </a:xfrm>
          <a:prstGeom prst="straightConnector1">
            <a:avLst/>
          </a:prstGeom>
          <a:ln w="24765">
            <a:solidFill>
              <a:srgbClr val="0070C0"/>
            </a:solidFill>
            <a:prstDash val="solid"/>
            <a:tailEnd type="arrow" w="med" len="med"/>
          </a:ln>
        </p:spPr>
      </p:cxnSp>
      <p:cxnSp>
        <p:nvCxnSpPr>
          <p:cNvPr id="15383" name="Straight Arrow Connector 15382">
            <a:extLst>
              <a:ext uri="{FF2B5EF4-FFF2-40B4-BE49-F238E27FC236}">
                <a16:creationId xmlns:a16="http://schemas.microsoft.com/office/drawing/2014/main" id="{779BCC56-EFBE-49B7-8556-8B98C20E23B4}"/>
              </a:ext>
            </a:extLst>
          </p:cNvPr>
          <p:cNvCxnSpPr>
            <a:stCxn id="15363" idx="3"/>
            <a:endCxn id="15368" idx="1"/>
          </p:cNvCxnSpPr>
          <p:nvPr/>
        </p:nvCxnSpPr>
        <p:spPr>
          <a:xfrm>
            <a:off x="2857500" y="2981325"/>
            <a:ext cx="476250" cy="0"/>
          </a:xfrm>
          <a:prstGeom prst="straightConnector1">
            <a:avLst/>
          </a:prstGeom>
          <a:ln w="24765">
            <a:solidFill>
              <a:srgbClr val="0070C0"/>
            </a:solidFill>
            <a:prstDash val="solid"/>
            <a:tailEnd type="arrow" w="med" len="med"/>
          </a:ln>
        </p:spPr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DF73BFCA-34CD-46D0-B63B-890F698B70C0}"/>
              </a:ext>
            </a:extLst>
          </p:cNvPr>
          <p:cNvSpPr>
            <a:spLocks noGrp="1"/>
          </p:cNvSpPr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5361" name="Title 1">
            <a:extLst>
              <a:ext uri="{FF2B5EF4-FFF2-40B4-BE49-F238E27FC236}">
                <a16:creationId xmlns:a16="http://schemas.microsoft.com/office/drawing/2014/main" id="{FF63F777-B881-495A-A9F8-E0E0EE734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>
              <a:buNone/>
            </a:pPr>
            <a:br>
              <a:rPr sz="3600" b="1">
                <a:latin typeface="Times New Roman"/>
                <a:ea typeface="Times New Roman"/>
                <a:cs typeface="Times New Roman"/>
              </a:rPr>
            </a:br>
            <a:r>
              <a:rPr sz="3600" b="1">
                <a:latin typeface="Times New Roman"/>
                <a:ea typeface="Times New Roman"/>
                <a:cs typeface="Times New Roman"/>
              </a:rPr>
              <a:t>LAND RECORD DIGITIZATION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10DC5-A056-4CEE-B9FB-74C8BA9290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77C3CE7-23F7-4828-823C-E0205DF2CF97}" type="slidenum">
              <a:rPr b="1">
                <a:solidFill>
                  <a:schemeClr val="bg1"/>
                </a:solidFill>
              </a:rPr>
              <a:t>2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A68C3-7B06-4367-8665-17444C9E2CBC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chemeClr val="bg1"/>
                </a:solidFill>
              </a:rPr>
              <a:t>Land Record System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noGrp="1"/>
          </p:cNvSpPr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t>LRS AI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B04645-06A1-4C4A-9552-8464E8B76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Workflow label">
            <a:extLst>
              <a:ext uri="{FF2B5EF4-FFF2-40B4-BE49-F238E27FC236}">
                <a16:creationId xmlns:a16="http://schemas.microsoft.com/office/drawing/2014/main" id="{ADE28A4F-5C15-44C1-BDBB-2CBD7B14B6DD}"/>
              </a:ext>
            </a:extLst>
          </p:cNvPr>
          <p:cNvSpPr>
            <a:spLocks noGrp="1"/>
          </p:cNvSpPr>
          <p:nvPr/>
        </p:nvSpPr>
        <p:spPr>
          <a:xfrm>
            <a:off x="2095500" y="1524000"/>
            <a:ext cx="800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SCAN  →  EXTRACT  →  VALIDATE  →  PUBLISH</a:t>
            </a:r>
          </a:p>
        </p:txBody>
      </p:sp>
      <p:sp>
        <p:nvSpPr>
          <p:cNvPr id="15363" name="workflow-1">
            <a:extLst>
              <a:ext uri="{FF2B5EF4-FFF2-40B4-BE49-F238E27FC236}">
                <a16:creationId xmlns:a16="http://schemas.microsoft.com/office/drawing/2014/main" id="{ED2D6375-4568-4647-9EF1-2A740229EE91}"/>
              </a:ext>
            </a:extLst>
          </p:cNvPr>
          <p:cNvSpPr>
            <a:spLocks noGrp="1"/>
          </p:cNvSpPr>
          <p:nvPr/>
        </p:nvSpPr>
        <p:spPr>
          <a:xfrm>
            <a:off x="666750" y="2133600"/>
            <a:ext cx="2190750" cy="1695450"/>
          </a:xfrm>
          <a:prstGeom prst="roundRect">
            <a:avLst>
              <a:gd name="adj" fmla="val 4494"/>
            </a:avLst>
          </a:prstGeom>
          <a:solidFill>
            <a:srgbClr val="F3F6F8"/>
          </a:solidFill>
          <a:ln w="14288">
            <a:solidFill>
              <a:srgbClr val="AEC1D1"/>
            </a:solidFill>
            <a:prstDash val="solid"/>
          </a:ln>
        </p:spPr>
      </p:sp>
      <p:sp>
        <p:nvSpPr>
          <p:cNvPr id="15364" name="workflow-1-badge">
            <a:extLst>
              <a:ext uri="{FF2B5EF4-FFF2-40B4-BE49-F238E27FC236}">
                <a16:creationId xmlns:a16="http://schemas.microsoft.com/office/drawing/2014/main" id="{BA9927B7-D808-42DD-BE40-8BE7ABE162DF}"/>
              </a:ext>
            </a:extLst>
          </p:cNvPr>
          <p:cNvSpPr>
            <a:spLocks noGrp="1"/>
          </p:cNvSpPr>
          <p:nvPr/>
        </p:nvSpPr>
        <p:spPr>
          <a:xfrm>
            <a:off x="819150" y="2286000"/>
            <a:ext cx="295275" cy="295275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prstDash val="solid"/>
          </a:ln>
        </p:spPr>
      </p:sp>
      <p:sp>
        <p:nvSpPr>
          <p:cNvPr id="15365" name="workflow-1-badge-n">
            <a:extLst>
              <a:ext uri="{FF2B5EF4-FFF2-40B4-BE49-F238E27FC236}">
                <a16:creationId xmlns:a16="http://schemas.microsoft.com/office/drawing/2014/main" id="{DCF18F10-3C82-4F0A-BB7F-DCDDF0B12357}"/>
              </a:ext>
            </a:extLst>
          </p:cNvPr>
          <p:cNvSpPr>
            <a:spLocks noGrp="1"/>
          </p:cNvSpPr>
          <p:nvPr/>
        </p:nvSpPr>
        <p:spPr>
          <a:xfrm>
            <a:off x="819150" y="2295525"/>
            <a:ext cx="2952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366" name="workflow-1-title">
            <a:extLst>
              <a:ext uri="{FF2B5EF4-FFF2-40B4-BE49-F238E27FC236}">
                <a16:creationId xmlns:a16="http://schemas.microsoft.com/office/drawing/2014/main" id="{5CC14FAB-DF2C-4DDE-BD1A-5FC491F44BA2}"/>
              </a:ext>
            </a:extLst>
          </p:cNvPr>
          <p:cNvSpPr>
            <a:spLocks noGrp="1"/>
          </p:cNvSpPr>
          <p:nvPr/>
        </p:nvSpPr>
        <p:spPr>
          <a:xfrm>
            <a:off x="1209675" y="2295525"/>
            <a:ext cx="15049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Upload scan</a:t>
            </a:r>
          </a:p>
        </p:txBody>
      </p:sp>
      <p:sp>
        <p:nvSpPr>
          <p:cNvPr id="15367" name="workflow-1-body">
            <a:extLst>
              <a:ext uri="{FF2B5EF4-FFF2-40B4-BE49-F238E27FC236}">
                <a16:creationId xmlns:a16="http://schemas.microsoft.com/office/drawing/2014/main" id="{1197804C-44D7-4F3D-9E44-A689C9C9AB13}"/>
              </a:ext>
            </a:extLst>
          </p:cNvPr>
          <p:cNvSpPr>
            <a:spLocks noGrp="1"/>
          </p:cNvSpPr>
          <p:nvPr/>
        </p:nvSpPr>
        <p:spPr>
          <a:xfrm>
            <a:off x="847725" y="2771775"/>
            <a:ext cx="18478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263746"/>
                </a:solidFill>
                <a:latin typeface="Arial"/>
                <a:ea typeface="Arial"/>
                <a:cs typeface="Arial"/>
              </a:rPr>
              <a:t>PDF, image or</a:t>
            </a:r>
          </a:p>
          <a:p>
            <a: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263746"/>
                </a:solidFill>
                <a:latin typeface="Arial"/>
                <a:ea typeface="Arial"/>
                <a:cs typeface="Arial"/>
              </a:rPr>
              <a:t>handwritten deed</a:t>
            </a:r>
          </a:p>
        </p:txBody>
      </p:sp>
      <p:sp>
        <p:nvSpPr>
          <p:cNvPr id="15368" name="workflow-2">
            <a:extLst>
              <a:ext uri="{FF2B5EF4-FFF2-40B4-BE49-F238E27FC236}">
                <a16:creationId xmlns:a16="http://schemas.microsoft.com/office/drawing/2014/main" id="{056A3E70-F2F4-44A2-8047-424F76352AC6}"/>
              </a:ext>
            </a:extLst>
          </p:cNvPr>
          <p:cNvSpPr>
            <a:spLocks noGrp="1"/>
          </p:cNvSpPr>
          <p:nvPr/>
        </p:nvSpPr>
        <p:spPr>
          <a:xfrm>
            <a:off x="3333750" y="2133600"/>
            <a:ext cx="2190750" cy="1695450"/>
          </a:xfrm>
          <a:prstGeom prst="roundRect">
            <a:avLst>
              <a:gd name="adj" fmla="val 4494"/>
            </a:avLst>
          </a:prstGeom>
          <a:solidFill>
            <a:srgbClr val="EAF2F8"/>
          </a:solidFill>
          <a:ln w="14288">
            <a:solidFill>
              <a:srgbClr val="8EAECC"/>
            </a:solidFill>
            <a:prstDash val="solid"/>
          </a:ln>
        </p:spPr>
      </p:sp>
      <p:sp>
        <p:nvSpPr>
          <p:cNvPr id="15369" name="workflow-2-badge">
            <a:extLst>
              <a:ext uri="{FF2B5EF4-FFF2-40B4-BE49-F238E27FC236}">
                <a16:creationId xmlns:a16="http://schemas.microsoft.com/office/drawing/2014/main" id="{F2F24FF5-347F-4757-8166-586437D12238}"/>
              </a:ext>
            </a:extLst>
          </p:cNvPr>
          <p:cNvSpPr>
            <a:spLocks noGrp="1"/>
          </p:cNvSpPr>
          <p:nvPr/>
        </p:nvSpPr>
        <p:spPr>
          <a:xfrm>
            <a:off x="3486150" y="2286000"/>
            <a:ext cx="295275" cy="295275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prstDash val="solid"/>
          </a:ln>
        </p:spPr>
      </p:sp>
      <p:sp>
        <p:nvSpPr>
          <p:cNvPr id="15370" name="workflow-2-badge-n">
            <a:extLst>
              <a:ext uri="{FF2B5EF4-FFF2-40B4-BE49-F238E27FC236}">
                <a16:creationId xmlns:a16="http://schemas.microsoft.com/office/drawing/2014/main" id="{7D50EC20-C030-4A96-8C43-44B7529F0545}"/>
              </a:ext>
            </a:extLst>
          </p:cNvPr>
          <p:cNvSpPr>
            <a:spLocks noGrp="1"/>
          </p:cNvSpPr>
          <p:nvPr/>
        </p:nvSpPr>
        <p:spPr>
          <a:xfrm>
            <a:off x="3486150" y="2295525"/>
            <a:ext cx="2952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371" name="workflow-2-title">
            <a:extLst>
              <a:ext uri="{FF2B5EF4-FFF2-40B4-BE49-F238E27FC236}">
                <a16:creationId xmlns:a16="http://schemas.microsoft.com/office/drawing/2014/main" id="{E9240E9C-26E7-49B2-AA5C-4D6D078B4AA9}"/>
              </a:ext>
            </a:extLst>
          </p:cNvPr>
          <p:cNvSpPr>
            <a:spLocks noGrp="1"/>
          </p:cNvSpPr>
          <p:nvPr/>
        </p:nvSpPr>
        <p:spPr>
          <a:xfrm>
            <a:off x="3876675" y="2295525"/>
            <a:ext cx="15049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Extract fields</a:t>
            </a:r>
          </a:p>
        </p:txBody>
      </p:sp>
      <p:sp>
        <p:nvSpPr>
          <p:cNvPr id="15372" name="workflow-2-body">
            <a:extLst>
              <a:ext uri="{FF2B5EF4-FFF2-40B4-BE49-F238E27FC236}">
                <a16:creationId xmlns:a16="http://schemas.microsoft.com/office/drawing/2014/main" id="{1DC5807F-D045-4D8E-8B94-606F2588CCD5}"/>
              </a:ext>
            </a:extLst>
          </p:cNvPr>
          <p:cNvSpPr>
            <a:spLocks noGrp="1"/>
          </p:cNvSpPr>
          <p:nvPr/>
        </p:nvSpPr>
        <p:spPr>
          <a:xfrm>
            <a:off x="3514725" y="2771775"/>
            <a:ext cx="18478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263746"/>
                </a:solidFill>
                <a:latin typeface="Arial"/>
                <a:ea typeface="Arial"/>
                <a:cs typeface="Arial"/>
              </a:rPr>
              <a:t>OpenCV scan prep</a:t>
            </a:r>
          </a:p>
          <a:p>
            <a: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263746"/>
                </a:solidFill>
                <a:latin typeface="Arial"/>
                <a:ea typeface="Arial"/>
                <a:cs typeface="Arial"/>
              </a:rPr>
              <a:t>Gemini + regex</a:t>
            </a:r>
          </a:p>
          <a:p>
            <a: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263746"/>
                </a:solidFill>
                <a:latin typeface="Arial"/>
                <a:ea typeface="Arial"/>
                <a:cs typeface="Arial"/>
              </a:rPr>
              <a:t>OCR cross-check</a:t>
            </a:r>
          </a:p>
        </p:txBody>
      </p:sp>
      <p:sp>
        <p:nvSpPr>
          <p:cNvPr id="15373" name="workflow-3">
            <a:extLst>
              <a:ext uri="{FF2B5EF4-FFF2-40B4-BE49-F238E27FC236}">
                <a16:creationId xmlns:a16="http://schemas.microsoft.com/office/drawing/2014/main" id="{B1AFFCEB-2167-4DBE-BD52-598D01A248E5}"/>
              </a:ext>
            </a:extLst>
          </p:cNvPr>
          <p:cNvSpPr>
            <a:spLocks noGrp="1"/>
          </p:cNvSpPr>
          <p:nvPr/>
        </p:nvSpPr>
        <p:spPr>
          <a:xfrm>
            <a:off x="6000750" y="2133600"/>
            <a:ext cx="2190750" cy="1695450"/>
          </a:xfrm>
          <a:prstGeom prst="roundRect">
            <a:avLst>
              <a:gd name="adj" fmla="val 4494"/>
            </a:avLst>
          </a:prstGeom>
          <a:solidFill>
            <a:srgbClr val="EAF5F6"/>
          </a:solidFill>
          <a:ln w="14288">
            <a:solidFill>
              <a:srgbClr val="91C4C9"/>
            </a:solidFill>
            <a:prstDash val="solid"/>
          </a:ln>
        </p:spPr>
      </p:sp>
      <p:sp>
        <p:nvSpPr>
          <p:cNvPr id="15374" name="workflow-3-badge">
            <a:extLst>
              <a:ext uri="{FF2B5EF4-FFF2-40B4-BE49-F238E27FC236}">
                <a16:creationId xmlns:a16="http://schemas.microsoft.com/office/drawing/2014/main" id="{609B1BC6-13FA-4848-9D6A-3801426927B6}"/>
              </a:ext>
            </a:extLst>
          </p:cNvPr>
          <p:cNvSpPr>
            <a:spLocks noGrp="1"/>
          </p:cNvSpPr>
          <p:nvPr/>
        </p:nvSpPr>
        <p:spPr>
          <a:xfrm>
            <a:off x="6153150" y="2286000"/>
            <a:ext cx="295275" cy="295275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prstDash val="solid"/>
          </a:ln>
        </p:spPr>
      </p:sp>
      <p:sp>
        <p:nvSpPr>
          <p:cNvPr id="15375" name="workflow-3-badge-n">
            <a:extLst>
              <a:ext uri="{FF2B5EF4-FFF2-40B4-BE49-F238E27FC236}">
                <a16:creationId xmlns:a16="http://schemas.microsoft.com/office/drawing/2014/main" id="{56875DC4-3288-4089-950B-A2BE59FC4D81}"/>
              </a:ext>
            </a:extLst>
          </p:cNvPr>
          <p:cNvSpPr>
            <a:spLocks noGrp="1"/>
          </p:cNvSpPr>
          <p:nvPr/>
        </p:nvSpPr>
        <p:spPr>
          <a:xfrm>
            <a:off x="6153150" y="2295525"/>
            <a:ext cx="2952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376" name="workflow-3-title">
            <a:extLst>
              <a:ext uri="{FF2B5EF4-FFF2-40B4-BE49-F238E27FC236}">
                <a16:creationId xmlns:a16="http://schemas.microsoft.com/office/drawing/2014/main" id="{9A747D95-A975-42EA-90C5-46D105AB272B}"/>
              </a:ext>
            </a:extLst>
          </p:cNvPr>
          <p:cNvSpPr>
            <a:spLocks noGrp="1"/>
          </p:cNvSpPr>
          <p:nvPr/>
        </p:nvSpPr>
        <p:spPr>
          <a:xfrm>
            <a:off x="6543675" y="2295525"/>
            <a:ext cx="15049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270"/>
          </a:bodyPr>
          <a:lstStyle>
            <a:def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Validate &amp; score</a:t>
            </a:r>
          </a:p>
        </p:txBody>
      </p:sp>
      <p:sp>
        <p:nvSpPr>
          <p:cNvPr id="15377" name="workflow-3-body">
            <a:extLst>
              <a:ext uri="{FF2B5EF4-FFF2-40B4-BE49-F238E27FC236}">
                <a16:creationId xmlns:a16="http://schemas.microsoft.com/office/drawing/2014/main" id="{E8AA01DB-BF07-46DD-B1B3-665144AD13CD}"/>
              </a:ext>
            </a:extLst>
          </p:cNvPr>
          <p:cNvSpPr>
            <a:spLocks noGrp="1"/>
          </p:cNvSpPr>
          <p:nvPr/>
        </p:nvSpPr>
        <p:spPr>
          <a:xfrm>
            <a:off x="6181725" y="2771775"/>
            <a:ext cx="18478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263746"/>
                </a:solidFill>
                <a:latin typeface="Arial"/>
                <a:ea typeface="Arial"/>
                <a:cs typeface="Arial"/>
              </a:rPr>
              <a:t>Required fields</a:t>
            </a:r>
          </a:p>
          <a:p>
            <a: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263746"/>
                </a:solidFill>
                <a:latin typeface="Arial"/>
                <a:ea typeface="Arial"/>
                <a:cs typeface="Arial"/>
              </a:rPr>
              <a:t>Format + duplicate checks</a:t>
            </a:r>
          </a:p>
          <a:p>
            <a: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263746"/>
                </a:solidFill>
                <a:latin typeface="Arial"/>
                <a:ea typeface="Arial"/>
                <a:cs typeface="Arial"/>
              </a:rPr>
              <a:t>Confidence score</a:t>
            </a:r>
          </a:p>
        </p:txBody>
      </p:sp>
      <p:sp>
        <p:nvSpPr>
          <p:cNvPr id="15378" name="workflow-4">
            <a:extLst>
              <a:ext uri="{FF2B5EF4-FFF2-40B4-BE49-F238E27FC236}">
                <a16:creationId xmlns:a16="http://schemas.microsoft.com/office/drawing/2014/main" id="{4E08B9D4-3E59-410C-A642-53CB647CA440}"/>
              </a:ext>
            </a:extLst>
          </p:cNvPr>
          <p:cNvSpPr>
            <a:spLocks noGrp="1"/>
          </p:cNvSpPr>
          <p:nvPr/>
        </p:nvSpPr>
        <p:spPr>
          <a:xfrm>
            <a:off x="8667750" y="2133600"/>
            <a:ext cx="2190750" cy="1695450"/>
          </a:xfrm>
          <a:prstGeom prst="roundRect">
            <a:avLst>
              <a:gd name="adj" fmla="val 4494"/>
            </a:avLst>
          </a:prstGeom>
          <a:solidFill>
            <a:srgbClr val="E9F5EE"/>
          </a:solidFill>
          <a:ln w="14288">
            <a:solidFill>
              <a:srgbClr val="9CCBAE"/>
            </a:solidFill>
            <a:prstDash val="solid"/>
          </a:ln>
        </p:spPr>
      </p:sp>
      <p:sp>
        <p:nvSpPr>
          <p:cNvPr id="15379" name="workflow-4-badge">
            <a:extLst>
              <a:ext uri="{FF2B5EF4-FFF2-40B4-BE49-F238E27FC236}">
                <a16:creationId xmlns:a16="http://schemas.microsoft.com/office/drawing/2014/main" id="{B71DA555-0E54-4A21-AD68-C6EB44ED5CCE}"/>
              </a:ext>
            </a:extLst>
          </p:cNvPr>
          <p:cNvSpPr>
            <a:spLocks noGrp="1"/>
          </p:cNvSpPr>
          <p:nvPr/>
        </p:nvSpPr>
        <p:spPr>
          <a:xfrm>
            <a:off x="8820150" y="2286000"/>
            <a:ext cx="295275" cy="295275"/>
          </a:xfrm>
          <a:prstGeom prst="ellipse">
            <a:avLst/>
          </a:prstGeom>
          <a:solidFill>
            <a:srgbClr val="248454"/>
          </a:solidFill>
          <a:ln w="9525">
            <a:solidFill>
              <a:srgbClr val="248454"/>
            </a:solidFill>
            <a:prstDash val="solid"/>
          </a:ln>
        </p:spPr>
      </p:sp>
      <p:sp>
        <p:nvSpPr>
          <p:cNvPr id="15380" name="workflow-4-badge-n">
            <a:extLst>
              <a:ext uri="{FF2B5EF4-FFF2-40B4-BE49-F238E27FC236}">
                <a16:creationId xmlns:a16="http://schemas.microsoft.com/office/drawing/2014/main" id="{5802D0E0-3B20-4337-BD98-3030AC9D3E22}"/>
              </a:ext>
            </a:extLst>
          </p:cNvPr>
          <p:cNvSpPr>
            <a:spLocks noGrp="1"/>
          </p:cNvSpPr>
          <p:nvPr/>
        </p:nvSpPr>
        <p:spPr>
          <a:xfrm>
            <a:off x="8820150" y="2295525"/>
            <a:ext cx="2952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381" name="workflow-4-title">
            <a:extLst>
              <a:ext uri="{FF2B5EF4-FFF2-40B4-BE49-F238E27FC236}">
                <a16:creationId xmlns:a16="http://schemas.microsoft.com/office/drawing/2014/main" id="{DAC7EAF5-A244-4730-BB22-A65E4BE302B3}"/>
              </a:ext>
            </a:extLst>
          </p:cNvPr>
          <p:cNvSpPr>
            <a:spLocks noGrp="1"/>
          </p:cNvSpPr>
          <p:nvPr/>
        </p:nvSpPr>
        <p:spPr>
          <a:xfrm>
            <a:off x="9210675" y="2295525"/>
            <a:ext cx="15049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Digital record</a:t>
            </a:r>
          </a:p>
        </p:txBody>
      </p:sp>
      <p:sp>
        <p:nvSpPr>
          <p:cNvPr id="15382" name="workflow-4-body">
            <a:extLst>
              <a:ext uri="{FF2B5EF4-FFF2-40B4-BE49-F238E27FC236}">
                <a16:creationId xmlns:a16="http://schemas.microsoft.com/office/drawing/2014/main" id="{9DB75528-7939-4EC4-8A55-B1A64B1CE5B1}"/>
              </a:ext>
            </a:extLst>
          </p:cNvPr>
          <p:cNvSpPr>
            <a:spLocks noGrp="1"/>
          </p:cNvSpPr>
          <p:nvPr/>
        </p:nvSpPr>
        <p:spPr>
          <a:xfrm>
            <a:off x="8848725" y="2771775"/>
            <a:ext cx="18478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263746"/>
                </a:solidFill>
                <a:latin typeface="Arial"/>
                <a:ea typeface="Arial"/>
                <a:cs typeface="Arial"/>
              </a:rPr>
              <a:t>Approved details</a:t>
            </a:r>
          </a:p>
          <a:p>
            <a: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263746"/>
                </a:solidFill>
                <a:latin typeface="Arial"/>
                <a:ea typeface="Arial"/>
                <a:cs typeface="Arial"/>
              </a:rPr>
              <a:t>Citizen-search ready</a:t>
            </a:r>
          </a:p>
        </p:txBody>
      </p:sp>
      <p:sp>
        <p:nvSpPr>
          <p:cNvPr id="15386" name="workflow-officer-review">
            <a:extLst>
              <a:ext uri="{FF2B5EF4-FFF2-40B4-BE49-F238E27FC236}">
                <a16:creationId xmlns:a16="http://schemas.microsoft.com/office/drawing/2014/main" id="{3FA540FA-57FE-4E7C-8382-924042DFCD31}"/>
              </a:ext>
            </a:extLst>
          </p:cNvPr>
          <p:cNvSpPr>
            <a:spLocks noGrp="1"/>
          </p:cNvSpPr>
          <p:nvPr/>
        </p:nvSpPr>
        <p:spPr>
          <a:xfrm>
            <a:off x="4457700" y="4686300"/>
            <a:ext cx="3314700" cy="914400"/>
          </a:xfrm>
          <a:prstGeom prst="roundRect">
            <a:avLst>
              <a:gd name="adj" fmla="val 8333"/>
            </a:avLst>
          </a:prstGeom>
          <a:solidFill>
            <a:srgbClr val="FFF5DF"/>
          </a:solidFill>
          <a:ln w="14288">
            <a:solidFill>
              <a:srgbClr val="D5B972"/>
            </a:solidFill>
            <a:prstDash val="solid"/>
          </a:ln>
        </p:spPr>
      </p:sp>
      <p:sp>
        <p:nvSpPr>
          <p:cNvPr id="15387" name="workflow-review-mark">
            <a:extLst>
              <a:ext uri="{FF2B5EF4-FFF2-40B4-BE49-F238E27FC236}">
                <a16:creationId xmlns:a16="http://schemas.microsoft.com/office/drawing/2014/main" id="{822FEA77-6C38-4CB5-8DD3-22778B322D4D}"/>
              </a:ext>
            </a:extLst>
          </p:cNvPr>
          <p:cNvSpPr>
            <a:spLocks noGrp="1"/>
          </p:cNvSpPr>
          <p:nvPr/>
        </p:nvSpPr>
        <p:spPr>
          <a:xfrm>
            <a:off x="4629150" y="4867275"/>
            <a:ext cx="409575" cy="409575"/>
          </a:xfrm>
          <a:prstGeom prst="ellipse">
            <a:avLst/>
          </a:prstGeom>
          <a:solidFill>
            <a:srgbClr val="B57912"/>
          </a:solidFill>
          <a:ln w="9525">
            <a:solidFill>
              <a:srgbClr val="B57912"/>
            </a:solidFill>
            <a:prstDash val="solid"/>
          </a:ln>
        </p:spPr>
      </p:sp>
      <p:sp>
        <p:nvSpPr>
          <p:cNvPr id="15388" name="workflow-review-symbol">
            <a:extLst>
              <a:ext uri="{FF2B5EF4-FFF2-40B4-BE49-F238E27FC236}">
                <a16:creationId xmlns:a16="http://schemas.microsoft.com/office/drawing/2014/main" id="{DE7F7B4F-2594-45C1-9FDE-617E85A8BC5C}"/>
              </a:ext>
            </a:extLst>
          </p:cNvPr>
          <p:cNvSpPr>
            <a:spLocks noGrp="1"/>
          </p:cNvSpPr>
          <p:nvPr/>
        </p:nvSpPr>
        <p:spPr>
          <a:xfrm>
            <a:off x="4629150" y="4867275"/>
            <a:ext cx="4095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15389" name="workflow-review-title">
            <a:extLst>
              <a:ext uri="{FF2B5EF4-FFF2-40B4-BE49-F238E27FC236}">
                <a16:creationId xmlns:a16="http://schemas.microsoft.com/office/drawing/2014/main" id="{CEB8FD7C-6A8E-4084-A0E5-FFC7EDFFB470}"/>
              </a:ext>
            </a:extLst>
          </p:cNvPr>
          <p:cNvSpPr>
            <a:spLocks noGrp="1"/>
          </p:cNvSpPr>
          <p:nvPr/>
        </p:nvSpPr>
        <p:spPr>
          <a:xfrm>
            <a:off x="5181600" y="4810125"/>
            <a:ext cx="24003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B5791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B5791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B5791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B5791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B5791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B5791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B5791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B5791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B5791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B5791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75" b="1">
                <a:solidFill>
                  <a:srgbClr val="B5791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57912"/>
                </a:solidFill>
                <a:latin typeface="Arial"/>
                <a:ea typeface="Arial"/>
                <a:cs typeface="Arial"/>
              </a:rPr>
              <a:t>Officer verification</a:t>
            </a:r>
          </a:p>
        </p:txBody>
      </p:sp>
      <p:sp>
        <p:nvSpPr>
          <p:cNvPr id="15390" name="workflow-review-detail">
            <a:extLst>
              <a:ext uri="{FF2B5EF4-FFF2-40B4-BE49-F238E27FC236}">
                <a16:creationId xmlns:a16="http://schemas.microsoft.com/office/drawing/2014/main" id="{342ADB25-31FE-4832-979B-83C0A1FC150E}"/>
              </a:ext>
            </a:extLst>
          </p:cNvPr>
          <p:cNvSpPr>
            <a:spLocks noGrp="1"/>
          </p:cNvSpPr>
          <p:nvPr/>
        </p:nvSpPr>
        <p:spPr>
          <a:xfrm>
            <a:off x="5181600" y="5162550"/>
            <a:ext cx="2400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0775"/>
          </a:bodyPr>
          <a:lstStyle>
            <a:defPPr algn="l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l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263746"/>
                </a:solidFill>
                <a:latin typeface="Arial"/>
                <a:ea typeface="Arial"/>
                <a:cs typeface="Arial"/>
              </a:rPr>
              <a:t>Correct uncertain fields → audited approval</a:t>
            </a:r>
          </a:p>
        </p:txBody>
      </p:sp>
      <p:sp>
        <p:nvSpPr>
          <p:cNvPr id="15392" name="workflow-review-branch-label">
            <a:extLst>
              <a:ext uri="{FF2B5EF4-FFF2-40B4-BE49-F238E27FC236}">
                <a16:creationId xmlns:a16="http://schemas.microsoft.com/office/drawing/2014/main" id="{1C5FC15C-D8F9-4C1F-86EF-7305EF30BE48}"/>
              </a:ext>
            </a:extLst>
          </p:cNvPr>
          <p:cNvSpPr>
            <a:spLocks noGrp="1"/>
          </p:cNvSpPr>
          <p:nvPr/>
        </p:nvSpPr>
        <p:spPr>
          <a:xfrm>
            <a:off x="3762375" y="4095750"/>
            <a:ext cx="19526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63" b="1">
                <a:solidFill>
                  <a:srgbClr val="B57912"/>
                </a:solidFill>
                <a:latin typeface="Arial"/>
                <a:ea typeface="Arial"/>
                <a:cs typeface="Arial"/>
              </a:defRPr>
            </a:defPPr>
            <a:lvl1pPr algn="ctr">
              <a:defRPr sz="1163" b="1">
                <a:solidFill>
                  <a:srgbClr val="B57912"/>
                </a:solidFill>
                <a:latin typeface="Arial"/>
                <a:ea typeface="Arial"/>
                <a:cs typeface="Arial"/>
              </a:defRPr>
            </a:lvl1pPr>
            <a:lvl2pPr algn="ctr">
              <a:defRPr sz="1163" b="1">
                <a:solidFill>
                  <a:srgbClr val="B57912"/>
                </a:solidFill>
                <a:latin typeface="Arial"/>
                <a:ea typeface="Arial"/>
                <a:cs typeface="Arial"/>
              </a:defRPr>
            </a:lvl2pPr>
            <a:lvl3pPr algn="ctr">
              <a:defRPr sz="1163" b="1">
                <a:solidFill>
                  <a:srgbClr val="B57912"/>
                </a:solidFill>
                <a:latin typeface="Arial"/>
                <a:ea typeface="Arial"/>
                <a:cs typeface="Arial"/>
              </a:defRPr>
            </a:lvl3pPr>
            <a:lvl4pPr algn="ctr">
              <a:defRPr sz="1163" b="1">
                <a:solidFill>
                  <a:srgbClr val="B57912"/>
                </a:solidFill>
                <a:latin typeface="Arial"/>
                <a:ea typeface="Arial"/>
                <a:cs typeface="Arial"/>
              </a:defRPr>
            </a:lvl4pPr>
            <a:lvl5pPr algn="ctr">
              <a:defRPr sz="1163" b="1">
                <a:solidFill>
                  <a:srgbClr val="B57912"/>
                </a:solidFill>
                <a:latin typeface="Arial"/>
                <a:ea typeface="Arial"/>
                <a:cs typeface="Arial"/>
              </a:defRPr>
            </a:lvl5pPr>
            <a:lvl6pPr algn="ctr">
              <a:defRPr sz="1163" b="1">
                <a:solidFill>
                  <a:srgbClr val="B57912"/>
                </a:solidFill>
                <a:latin typeface="Arial"/>
                <a:ea typeface="Arial"/>
                <a:cs typeface="Arial"/>
              </a:defRPr>
            </a:lvl6pPr>
            <a:lvl7pPr algn="ctr">
              <a:defRPr sz="1163" b="1">
                <a:solidFill>
                  <a:srgbClr val="B57912"/>
                </a:solidFill>
                <a:latin typeface="Arial"/>
                <a:ea typeface="Arial"/>
                <a:cs typeface="Arial"/>
              </a:defRPr>
            </a:lvl7pPr>
            <a:lvl8pPr algn="ctr">
              <a:defRPr sz="1163" b="1">
                <a:solidFill>
                  <a:srgbClr val="B57912"/>
                </a:solidFill>
                <a:latin typeface="Arial"/>
                <a:ea typeface="Arial"/>
                <a:cs typeface="Arial"/>
              </a:defRPr>
            </a:lvl8pPr>
            <a:lvl9pPr algn="ctr">
              <a:defRPr sz="1163" b="1">
                <a:solidFill>
                  <a:srgbClr val="B57912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63" b="1">
                <a:solidFill>
                  <a:srgbClr val="B57912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B57912"/>
                </a:solidFill>
                <a:latin typeface="Arial"/>
                <a:ea typeface="Arial"/>
                <a:cs typeface="Arial"/>
              </a:rPr>
              <a:t>Needs manual review</a:t>
            </a:r>
          </a:p>
        </p:txBody>
      </p:sp>
    </p:spTree>
    <p:extLst>
      <p:ext uri="{BB962C8B-B14F-4D97-AF65-F5344CB8AC3E}">
        <p14:creationId xmlns:p14="http://schemas.microsoft.com/office/powerpoint/2010/main" val="2070181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436" name="Straight Arrow Connector 17435">
            <a:extLst>
              <a:ext uri="{FF2B5EF4-FFF2-40B4-BE49-F238E27FC236}">
                <a16:creationId xmlns:a16="http://schemas.microsoft.com/office/drawing/2014/main" id="{C840CC40-47FE-4282-840D-DDA5748549C0}"/>
              </a:ext>
            </a:extLst>
          </p:cNvPr>
          <p:cNvCxnSpPr>
            <a:stCxn id="17415" idx="2"/>
            <a:endCxn id="17433" idx="0"/>
          </p:cNvCxnSpPr>
          <p:nvPr/>
        </p:nvCxnSpPr>
        <p:spPr>
          <a:xfrm>
            <a:off x="5286375" y="4086225"/>
            <a:ext cx="0" cy="771525"/>
          </a:xfrm>
          <a:prstGeom prst="straightConnector1">
            <a:avLst/>
          </a:prstGeom>
          <a:ln w="20955">
            <a:solidFill>
              <a:srgbClr val="1F497D"/>
            </a:solidFill>
            <a:prstDash val="solid"/>
            <a:headEnd type="arrow" w="sm" len="sm"/>
            <a:tailEnd type="arrow" w="med" len="med"/>
          </a:ln>
        </p:spPr>
      </p:cxnSp>
      <p:cxnSp>
        <p:nvCxnSpPr>
          <p:cNvPr id="17432" name="Straight Arrow Connector 17431">
            <a:extLst>
              <a:ext uri="{FF2B5EF4-FFF2-40B4-BE49-F238E27FC236}">
                <a16:creationId xmlns:a16="http://schemas.microsoft.com/office/drawing/2014/main" id="{211BC118-A0A5-4661-B1F8-2DF786BBECF4}"/>
              </a:ext>
            </a:extLst>
          </p:cNvPr>
          <p:cNvCxnSpPr>
            <a:stCxn id="17415" idx="3"/>
            <a:endCxn id="17420" idx="1"/>
          </p:cNvCxnSpPr>
          <p:nvPr/>
        </p:nvCxnSpPr>
        <p:spPr>
          <a:xfrm flipV="1">
            <a:off x="6619875" y="3238500"/>
            <a:ext cx="904875" cy="66675"/>
          </a:xfrm>
          <a:prstGeom prst="straightConnector1">
            <a:avLst/>
          </a:prstGeom>
          <a:ln w="24765">
            <a:solidFill>
              <a:srgbClr val="0070C0"/>
            </a:solidFill>
            <a:prstDash val="solid"/>
            <a:headEnd type="arrow" w="sm" len="sm"/>
            <a:tailEnd type="arrow" w="med" len="med"/>
          </a:ln>
        </p:spPr>
      </p:cxnSp>
      <p:cxnSp>
        <p:nvCxnSpPr>
          <p:cNvPr id="17431" name="Straight Arrow Connector 17430">
            <a:extLst>
              <a:ext uri="{FF2B5EF4-FFF2-40B4-BE49-F238E27FC236}">
                <a16:creationId xmlns:a16="http://schemas.microsoft.com/office/drawing/2014/main" id="{325098CD-6898-4809-BC4F-30F8F4C82CE4}"/>
              </a:ext>
            </a:extLst>
          </p:cNvPr>
          <p:cNvCxnSpPr>
            <a:stCxn id="17410" idx="3"/>
            <a:endCxn id="17415" idx="1"/>
          </p:cNvCxnSpPr>
          <p:nvPr/>
        </p:nvCxnSpPr>
        <p:spPr>
          <a:xfrm>
            <a:off x="3095625" y="3305175"/>
            <a:ext cx="857250" cy="0"/>
          </a:xfrm>
          <a:prstGeom prst="straightConnector1">
            <a:avLst/>
          </a:prstGeom>
          <a:ln w="24765">
            <a:solidFill>
              <a:srgbClr val="0070C0"/>
            </a:solidFill>
            <a:prstDash val="solid"/>
            <a:tailEnd type="arrow" w="med" len="med"/>
          </a:ln>
        </p:spPr>
      </p:cxnSp>
      <p:cxnSp>
        <p:nvCxnSpPr>
          <p:cNvPr id="17430" name="Straight Arrow Connector 17429">
            <a:extLst>
              <a:ext uri="{FF2B5EF4-FFF2-40B4-BE49-F238E27FC236}">
                <a16:creationId xmlns:a16="http://schemas.microsoft.com/office/drawing/2014/main" id="{B204E303-DD05-44F2-9855-6542C9116E04}"/>
              </a:ext>
            </a:extLst>
          </p:cNvPr>
          <p:cNvCxnSpPr>
            <a:stCxn id="17425" idx="2"/>
            <a:endCxn id="17427" idx="0"/>
          </p:cNvCxnSpPr>
          <p:nvPr/>
        </p:nvCxnSpPr>
        <p:spPr>
          <a:xfrm>
            <a:off x="9429750" y="3657600"/>
            <a:ext cx="0" cy="171450"/>
          </a:xfrm>
          <a:prstGeom prst="straightConnector1">
            <a:avLst/>
          </a:prstGeom>
          <a:ln w="18098">
            <a:solidFill>
              <a:srgbClr val="167D8D"/>
            </a:solidFill>
            <a:prstDash val="solid"/>
            <a:tailEnd type="arrow" w="med" len="med"/>
          </a:ln>
        </p:spPr>
      </p:cxnSp>
      <p:cxnSp>
        <p:nvCxnSpPr>
          <p:cNvPr id="17429" name="Straight Arrow Connector 17428">
            <a:extLst>
              <a:ext uri="{FF2B5EF4-FFF2-40B4-BE49-F238E27FC236}">
                <a16:creationId xmlns:a16="http://schemas.microsoft.com/office/drawing/2014/main" id="{B491659D-8B4F-4B9E-B8AD-B5339CF4F85D}"/>
              </a:ext>
            </a:extLst>
          </p:cNvPr>
          <p:cNvCxnSpPr>
            <a:stCxn id="17423" idx="2"/>
            <a:endCxn id="17425" idx="0"/>
          </p:cNvCxnSpPr>
          <p:nvPr/>
        </p:nvCxnSpPr>
        <p:spPr>
          <a:xfrm>
            <a:off x="9429750" y="3028950"/>
            <a:ext cx="0" cy="171450"/>
          </a:xfrm>
          <a:prstGeom prst="straightConnector1">
            <a:avLst/>
          </a:prstGeom>
          <a:ln w="18098">
            <a:solidFill>
              <a:srgbClr val="167D8D"/>
            </a:solidFill>
            <a:prstDash val="solid"/>
            <a:tailEnd type="arrow" w="med" len="med"/>
          </a:ln>
        </p:spPr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Grp="1"/>
          </p:cNvSpPr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D5E58798-4025-4040-8DB0-4116F6B77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TECHNICAL APPROACH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197DE-8F3E-4D9D-A8EA-A93F3C81C1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77C3CE7-23F7-4828-823C-E0205DF2CF97}" type="slidenum">
              <a:rPr b="1">
                <a:solidFill>
                  <a:schemeClr val="bg1"/>
                </a:solidFill>
              </a:rPr>
              <a:t>3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14227AE-C698-4F83-97E7-79F8037A9D1F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chemeClr val="bg1"/>
                </a:solidFill>
              </a:rPr>
              <a:t>Land Record System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noGrp="1"/>
          </p:cNvSpPr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t>LRS AI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5595CD8-3B14-4AB8-87CA-A385F675F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architecture-client">
            <a:extLst>
              <a:ext uri="{FF2B5EF4-FFF2-40B4-BE49-F238E27FC236}">
                <a16:creationId xmlns:a16="http://schemas.microsoft.com/office/drawing/2014/main" id="{CF32E965-C359-4361-B121-46744BED4326}"/>
              </a:ext>
            </a:extLst>
          </p:cNvPr>
          <p:cNvSpPr>
            <a:spLocks noGrp="1"/>
          </p:cNvSpPr>
          <p:nvPr/>
        </p:nvSpPr>
        <p:spPr>
          <a:xfrm>
            <a:off x="619125" y="2524125"/>
            <a:ext cx="2476500" cy="1562100"/>
          </a:xfrm>
          <a:prstGeom prst="roundRect">
            <a:avLst>
              <a:gd name="adj" fmla="val 4878"/>
            </a:avLst>
          </a:prstGeom>
          <a:solidFill>
            <a:srgbClr val="EAF2F8"/>
          </a:solidFill>
          <a:ln w="14288">
            <a:solidFill>
              <a:srgbClr val="8EAECC"/>
            </a:solidFill>
            <a:prstDash val="solid"/>
          </a:ln>
        </p:spPr>
      </p:sp>
      <p:sp>
        <p:nvSpPr>
          <p:cNvPr id="17411" name="architecture-client-badge">
            <a:extLst>
              <a:ext uri="{FF2B5EF4-FFF2-40B4-BE49-F238E27FC236}">
                <a16:creationId xmlns:a16="http://schemas.microsoft.com/office/drawing/2014/main" id="{72BF041E-A9FF-4219-B723-0222C2781344}"/>
              </a:ext>
            </a:extLst>
          </p:cNvPr>
          <p:cNvSpPr>
            <a:spLocks noGrp="1"/>
          </p:cNvSpPr>
          <p:nvPr/>
        </p:nvSpPr>
        <p:spPr>
          <a:xfrm>
            <a:off x="790575" y="2686050"/>
            <a:ext cx="295275" cy="295275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prstDash val="solid"/>
          </a:ln>
        </p:spPr>
      </p:sp>
      <p:sp>
        <p:nvSpPr>
          <p:cNvPr id="17412" name="architecture-client-badge-n">
            <a:extLst>
              <a:ext uri="{FF2B5EF4-FFF2-40B4-BE49-F238E27FC236}">
                <a16:creationId xmlns:a16="http://schemas.microsoft.com/office/drawing/2014/main" id="{DEFE82BC-8395-4492-9D11-D8191845D302}"/>
              </a:ext>
            </a:extLst>
          </p:cNvPr>
          <p:cNvSpPr>
            <a:spLocks noGrp="1"/>
          </p:cNvSpPr>
          <p:nvPr/>
        </p:nvSpPr>
        <p:spPr>
          <a:xfrm>
            <a:off x="790575" y="2695575"/>
            <a:ext cx="2952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UI</a:t>
            </a:r>
          </a:p>
        </p:txBody>
      </p:sp>
      <p:sp>
        <p:nvSpPr>
          <p:cNvPr id="17413" name="architecture-client-title">
            <a:extLst>
              <a:ext uri="{FF2B5EF4-FFF2-40B4-BE49-F238E27FC236}">
                <a16:creationId xmlns:a16="http://schemas.microsoft.com/office/drawing/2014/main" id="{4AA42949-F3F8-4E68-ABC9-4B2BB593B9F9}"/>
              </a:ext>
            </a:extLst>
          </p:cNvPr>
          <p:cNvSpPr>
            <a:spLocks noGrp="1"/>
          </p:cNvSpPr>
          <p:nvPr/>
        </p:nvSpPr>
        <p:spPr>
          <a:xfrm>
            <a:off x="1257300" y="2676525"/>
            <a:ext cx="16668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72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Web interface</a:t>
            </a:r>
          </a:p>
        </p:txBody>
      </p:sp>
      <p:sp>
        <p:nvSpPr>
          <p:cNvPr id="17414" name="architecture-client-copy">
            <a:extLst>
              <a:ext uri="{FF2B5EF4-FFF2-40B4-BE49-F238E27FC236}">
                <a16:creationId xmlns:a16="http://schemas.microsoft.com/office/drawing/2014/main" id="{49CB24C6-A09B-4F9D-8B32-915B7BDDEF30}"/>
              </a:ext>
            </a:extLst>
          </p:cNvPr>
          <p:cNvSpPr>
            <a:spLocks noGrp="1"/>
          </p:cNvSpPr>
          <p:nvPr/>
        </p:nvSpPr>
        <p:spPr>
          <a:xfrm>
            <a:off x="838200" y="3124200"/>
            <a:ext cx="2047875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772"/>
          </a:bodyPr>
          <a:lstStyle>
            <a:def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263746"/>
                </a:solidFill>
                <a:latin typeface="Arial"/>
                <a:ea typeface="Arial"/>
                <a:cs typeface="Arial"/>
              </a:rPr>
              <a:t>React 18 + Vite</a:t>
            </a:r>
          </a:p>
          <a:p>
            <a: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263746"/>
                </a:solidFill>
                <a:latin typeface="Arial"/>
                <a:ea typeface="Arial"/>
                <a:cs typeface="Arial"/>
              </a:rPr>
              <a:t>Tailwind CSS</a:t>
            </a:r>
          </a:p>
          <a:p>
            <a:pPr algn="ctr">
              <a:defRPr sz="1313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263746"/>
                </a:solidFill>
                <a:latin typeface="Arial"/>
                <a:ea typeface="Arial"/>
                <a:cs typeface="Arial"/>
              </a:rPr>
              <a:t>Upload • verification • search</a:t>
            </a:r>
          </a:p>
        </p:txBody>
      </p:sp>
      <p:sp>
        <p:nvSpPr>
          <p:cNvPr id="17415" name="architecture-api">
            <a:extLst>
              <a:ext uri="{FF2B5EF4-FFF2-40B4-BE49-F238E27FC236}">
                <a16:creationId xmlns:a16="http://schemas.microsoft.com/office/drawing/2014/main" id="{1D5B8A4F-EA22-487D-8318-D19CF88A95E1}"/>
              </a:ext>
            </a:extLst>
          </p:cNvPr>
          <p:cNvSpPr>
            <a:spLocks noGrp="1"/>
          </p:cNvSpPr>
          <p:nvPr/>
        </p:nvSpPr>
        <p:spPr>
          <a:xfrm>
            <a:off x="3952875" y="2524125"/>
            <a:ext cx="2667000" cy="1562100"/>
          </a:xfrm>
          <a:prstGeom prst="roundRect">
            <a:avLst>
              <a:gd name="adj" fmla="val 4878"/>
            </a:avLst>
          </a:prstGeom>
          <a:solidFill>
            <a:srgbClr val="F3F6F8"/>
          </a:solidFill>
          <a:ln w="14288">
            <a:solidFill>
              <a:srgbClr val="AEC1D1"/>
            </a:solidFill>
            <a:prstDash val="solid"/>
          </a:ln>
        </p:spPr>
      </p:sp>
      <p:sp>
        <p:nvSpPr>
          <p:cNvPr id="17416" name="architecture-api-badge">
            <a:extLst>
              <a:ext uri="{FF2B5EF4-FFF2-40B4-BE49-F238E27FC236}">
                <a16:creationId xmlns:a16="http://schemas.microsoft.com/office/drawing/2014/main" id="{8F74B1B6-318A-459D-AA2C-3A2E63CBBE47}"/>
              </a:ext>
            </a:extLst>
          </p:cNvPr>
          <p:cNvSpPr>
            <a:spLocks noGrp="1"/>
          </p:cNvSpPr>
          <p:nvPr/>
        </p:nvSpPr>
        <p:spPr>
          <a:xfrm>
            <a:off x="4124325" y="2686050"/>
            <a:ext cx="295275" cy="295275"/>
          </a:xfrm>
          <a:prstGeom prst="ellipse">
            <a:avLst/>
          </a:prstGeom>
          <a:solidFill>
            <a:srgbClr val="1F497D"/>
          </a:solidFill>
          <a:ln w="9525">
            <a:solidFill>
              <a:srgbClr val="1F497D"/>
            </a:solidFill>
            <a:prstDash val="solid"/>
          </a:ln>
        </p:spPr>
      </p:sp>
      <p:sp>
        <p:nvSpPr>
          <p:cNvPr id="17417" name="architecture-api-badge-n">
            <a:extLst>
              <a:ext uri="{FF2B5EF4-FFF2-40B4-BE49-F238E27FC236}">
                <a16:creationId xmlns:a16="http://schemas.microsoft.com/office/drawing/2014/main" id="{C885EBD7-7360-469E-B046-5F5456E6D0DB}"/>
              </a:ext>
            </a:extLst>
          </p:cNvPr>
          <p:cNvSpPr>
            <a:spLocks noGrp="1"/>
          </p:cNvSpPr>
          <p:nvPr/>
        </p:nvSpPr>
        <p:spPr>
          <a:xfrm>
            <a:off x="4124325" y="2695575"/>
            <a:ext cx="2952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17418" name="architecture-api-title">
            <a:extLst>
              <a:ext uri="{FF2B5EF4-FFF2-40B4-BE49-F238E27FC236}">
                <a16:creationId xmlns:a16="http://schemas.microsoft.com/office/drawing/2014/main" id="{42C1874C-0A54-442A-AE63-748BF39FCE11}"/>
              </a:ext>
            </a:extLst>
          </p:cNvPr>
          <p:cNvSpPr>
            <a:spLocks noGrp="1"/>
          </p:cNvSpPr>
          <p:nvPr/>
        </p:nvSpPr>
        <p:spPr>
          <a:xfrm>
            <a:off x="4667250" y="2676525"/>
            <a:ext cx="176212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72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Node + Express</a:t>
            </a:r>
          </a:p>
        </p:txBody>
      </p:sp>
      <p:sp>
        <p:nvSpPr>
          <p:cNvPr id="17419" name="architecture-api-copy">
            <a:extLst>
              <a:ext uri="{FF2B5EF4-FFF2-40B4-BE49-F238E27FC236}">
                <a16:creationId xmlns:a16="http://schemas.microsoft.com/office/drawing/2014/main" id="{B8197AD7-9634-4660-ADAA-4D3F41DBE674}"/>
              </a:ext>
            </a:extLst>
          </p:cNvPr>
          <p:cNvSpPr>
            <a:spLocks noGrp="1"/>
          </p:cNvSpPr>
          <p:nvPr/>
        </p:nvSpPr>
        <p:spPr>
          <a:xfrm>
            <a:off x="4171950" y="3124200"/>
            <a:ext cx="2238375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ctr">
              <a:defRPr sz="1275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63746"/>
                </a:solidFill>
                <a:latin typeface="Arial"/>
                <a:ea typeface="Arial"/>
                <a:cs typeface="Arial"/>
              </a:rPr>
              <a:t>REST endpoints • JWT / roles</a:t>
            </a:r>
          </a:p>
          <a:p>
            <a:pPr algn="ctr">
              <a:defRPr sz="1275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63746"/>
                </a:solidFill>
                <a:latin typeface="Arial"/>
                <a:ea typeface="Arial"/>
                <a:cs typeface="Arial"/>
              </a:rPr>
              <a:t>Upload orchestration</a:t>
            </a:r>
          </a:p>
          <a:p>
            <a:pPr algn="ctr">
              <a:defRPr sz="1275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63746"/>
                </a:solidFill>
                <a:latin typeface="Arial"/>
                <a:ea typeface="Arial"/>
                <a:cs typeface="Arial"/>
              </a:rPr>
              <a:t>Records + review workflow</a:t>
            </a:r>
          </a:p>
        </p:txBody>
      </p:sp>
      <p:sp>
        <p:nvSpPr>
          <p:cNvPr id="17420" name="architecture-ai">
            <a:extLst>
              <a:ext uri="{FF2B5EF4-FFF2-40B4-BE49-F238E27FC236}">
                <a16:creationId xmlns:a16="http://schemas.microsoft.com/office/drawing/2014/main" id="{6C1A0409-DECE-4008-8F2D-9462B25E0018}"/>
              </a:ext>
            </a:extLst>
          </p:cNvPr>
          <p:cNvSpPr>
            <a:spLocks noGrp="1"/>
          </p:cNvSpPr>
          <p:nvPr/>
        </p:nvSpPr>
        <p:spPr>
          <a:xfrm>
            <a:off x="7524750" y="1666875"/>
            <a:ext cx="3810000" cy="3143250"/>
          </a:xfrm>
          <a:prstGeom prst="roundRect">
            <a:avLst>
              <a:gd name="adj" fmla="val 2424"/>
            </a:avLst>
          </a:prstGeom>
          <a:solidFill>
            <a:srgbClr val="EAF5F6"/>
          </a:solidFill>
          <a:ln w="14288">
            <a:solidFill>
              <a:srgbClr val="91C4C9"/>
            </a:solidFill>
            <a:prstDash val="solid"/>
          </a:ln>
        </p:spPr>
      </p:sp>
      <p:sp>
        <p:nvSpPr>
          <p:cNvPr id="17421" name="architecture-ai-title">
            <a:extLst>
              <a:ext uri="{FF2B5EF4-FFF2-40B4-BE49-F238E27FC236}">
                <a16:creationId xmlns:a16="http://schemas.microsoft.com/office/drawing/2014/main" id="{A0C3D751-ECBB-4E48-B7C9-82FA2593756A}"/>
              </a:ext>
            </a:extLst>
          </p:cNvPr>
          <p:cNvSpPr>
            <a:spLocks noGrp="1"/>
          </p:cNvSpPr>
          <p:nvPr/>
        </p:nvSpPr>
        <p:spPr>
          <a:xfrm>
            <a:off x="7734300" y="1809750"/>
            <a:ext cx="33909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Python FastAPI AI service</a:t>
            </a:r>
          </a:p>
        </p:txBody>
      </p:sp>
      <p:sp>
        <p:nvSpPr>
          <p:cNvPr id="17422" name="architecture-ai-subtitle">
            <a:extLst>
              <a:ext uri="{FF2B5EF4-FFF2-40B4-BE49-F238E27FC236}">
                <a16:creationId xmlns:a16="http://schemas.microsoft.com/office/drawing/2014/main" id="{8C64AC3C-B428-4CB7-B7C1-5DCBADBB6602}"/>
              </a:ext>
            </a:extLst>
          </p:cNvPr>
          <p:cNvSpPr>
            <a:spLocks noGrp="1"/>
          </p:cNvSpPr>
          <p:nvPr/>
        </p:nvSpPr>
        <p:spPr>
          <a:xfrm>
            <a:off x="7734300" y="2181225"/>
            <a:ext cx="3390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63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defPPr>
            <a:lvl1pPr algn="ctr">
              <a:defRPr sz="1163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lvl1pPr>
            <a:lvl2pPr algn="ctr">
              <a:defRPr sz="1163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lvl2pPr>
            <a:lvl3pPr algn="ctr">
              <a:defRPr sz="1163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lvl3pPr>
            <a:lvl4pPr algn="ctr">
              <a:defRPr sz="1163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lvl4pPr>
            <a:lvl5pPr algn="ctr">
              <a:defRPr sz="1163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lvl5pPr>
            <a:lvl6pPr algn="ctr">
              <a:defRPr sz="1163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lvl6pPr>
            <a:lvl7pPr algn="ctr">
              <a:defRPr sz="1163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lvl7pPr>
            <a:lvl8pPr algn="ctr">
              <a:defRPr sz="1163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lvl8pPr>
            <a:lvl9pPr algn="ctr">
              <a:defRPr sz="1163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63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67D8D"/>
                </a:solidFill>
                <a:latin typeface="Arial"/>
                <a:ea typeface="Arial"/>
                <a:cs typeface="Arial"/>
              </a:rPr>
              <a:t>DOCUMENT PROCESSING PIPELINE</a:t>
            </a:r>
          </a:p>
        </p:txBody>
      </p:sp>
      <p:sp>
        <p:nvSpPr>
          <p:cNvPr id="17423" name="architecture-ai-step-1">
            <a:extLst>
              <a:ext uri="{FF2B5EF4-FFF2-40B4-BE49-F238E27FC236}">
                <a16:creationId xmlns:a16="http://schemas.microsoft.com/office/drawing/2014/main" id="{3E744B66-5D9C-4462-9CE9-1D5E3CEE9E47}"/>
              </a:ext>
            </a:extLst>
          </p:cNvPr>
          <p:cNvSpPr>
            <a:spLocks noGrp="1"/>
          </p:cNvSpPr>
          <p:nvPr/>
        </p:nvSpPr>
        <p:spPr>
          <a:xfrm>
            <a:off x="8210550" y="2571750"/>
            <a:ext cx="24384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4288">
            <a:solidFill>
              <a:srgbClr val="A8CED2"/>
            </a:solidFill>
            <a:prstDash val="solid"/>
          </a:ln>
        </p:spPr>
      </p:sp>
      <p:sp>
        <p:nvSpPr>
          <p:cNvPr id="17424" name="architecture-ai-step-1-label">
            <a:extLst>
              <a:ext uri="{FF2B5EF4-FFF2-40B4-BE49-F238E27FC236}">
                <a16:creationId xmlns:a16="http://schemas.microsoft.com/office/drawing/2014/main" id="{1C752DAB-AB4E-4B31-B691-4FD51A2293E3}"/>
              </a:ext>
            </a:extLst>
          </p:cNvPr>
          <p:cNvSpPr>
            <a:spLocks noGrp="1"/>
          </p:cNvSpPr>
          <p:nvPr/>
        </p:nvSpPr>
        <p:spPr>
          <a:xfrm>
            <a:off x="8343900" y="2590800"/>
            <a:ext cx="2171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13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ctr">
              <a:defRPr sz="1313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ctr">
              <a:defRPr sz="1313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ctr">
              <a:defRPr sz="1313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ctr">
              <a:defRPr sz="1313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ctr">
              <a:defRPr sz="1313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ctr">
              <a:defRPr sz="1313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ctr">
              <a:defRPr sz="1313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ctr">
              <a:defRPr sz="1313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ctr">
              <a:defRPr sz="1313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13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OpenCV scan preparation</a:t>
            </a:r>
          </a:p>
        </p:txBody>
      </p:sp>
      <p:sp>
        <p:nvSpPr>
          <p:cNvPr id="17425" name="architecture-ai-step-2">
            <a:extLst>
              <a:ext uri="{FF2B5EF4-FFF2-40B4-BE49-F238E27FC236}">
                <a16:creationId xmlns:a16="http://schemas.microsoft.com/office/drawing/2014/main" id="{EF9D0524-84EA-4459-9020-BF08C632AFE4}"/>
              </a:ext>
            </a:extLst>
          </p:cNvPr>
          <p:cNvSpPr>
            <a:spLocks noGrp="1"/>
          </p:cNvSpPr>
          <p:nvPr/>
        </p:nvSpPr>
        <p:spPr>
          <a:xfrm>
            <a:off x="8210550" y="3200400"/>
            <a:ext cx="24384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4288">
            <a:solidFill>
              <a:srgbClr val="A8CED2"/>
            </a:solidFill>
            <a:prstDash val="solid"/>
          </a:ln>
        </p:spPr>
      </p:sp>
      <p:sp>
        <p:nvSpPr>
          <p:cNvPr id="17426" name="architecture-ai-step-2-label">
            <a:extLst>
              <a:ext uri="{FF2B5EF4-FFF2-40B4-BE49-F238E27FC236}">
                <a16:creationId xmlns:a16="http://schemas.microsoft.com/office/drawing/2014/main" id="{67328C44-8118-4746-A3E8-D6BC11E56D50}"/>
              </a:ext>
            </a:extLst>
          </p:cNvPr>
          <p:cNvSpPr>
            <a:spLocks noGrp="1"/>
          </p:cNvSpPr>
          <p:nvPr/>
        </p:nvSpPr>
        <p:spPr>
          <a:xfrm>
            <a:off x="8343900" y="3219450"/>
            <a:ext cx="2171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13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defPPr>
            <a:lvl1pPr algn="ctr">
              <a:defRPr sz="1313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1pPr>
            <a:lvl2pPr algn="ctr">
              <a:defRPr sz="1313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2pPr>
            <a:lvl3pPr algn="ctr">
              <a:defRPr sz="1313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3pPr>
            <a:lvl4pPr algn="ctr">
              <a:defRPr sz="1313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4pPr>
            <a:lvl5pPr algn="ctr">
              <a:defRPr sz="1313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5pPr>
            <a:lvl6pPr algn="ctr">
              <a:defRPr sz="1313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6pPr>
            <a:lvl7pPr algn="ctr">
              <a:defRPr sz="1313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7pPr>
            <a:lvl8pPr algn="ctr">
              <a:defRPr sz="1313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8pPr>
            <a:lvl9pPr algn="ctr">
              <a:defRPr sz="1313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13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Gemini + regex field extraction</a:t>
            </a:r>
          </a:p>
        </p:txBody>
      </p:sp>
      <p:sp>
        <p:nvSpPr>
          <p:cNvPr id="17427" name="architecture-ai-step-3">
            <a:extLst>
              <a:ext uri="{FF2B5EF4-FFF2-40B4-BE49-F238E27FC236}">
                <a16:creationId xmlns:a16="http://schemas.microsoft.com/office/drawing/2014/main" id="{AB408966-859E-48EB-AD27-DA2DD69943A1}"/>
              </a:ext>
            </a:extLst>
          </p:cNvPr>
          <p:cNvSpPr>
            <a:spLocks noGrp="1"/>
          </p:cNvSpPr>
          <p:nvPr/>
        </p:nvSpPr>
        <p:spPr>
          <a:xfrm>
            <a:off x="8210550" y="3829050"/>
            <a:ext cx="24384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4288">
            <a:solidFill>
              <a:srgbClr val="A8CED2"/>
            </a:solidFill>
            <a:prstDash val="solid"/>
          </a:ln>
        </p:spPr>
      </p:sp>
      <p:sp>
        <p:nvSpPr>
          <p:cNvPr id="17428" name="architecture-ai-step-3-label">
            <a:extLst>
              <a:ext uri="{FF2B5EF4-FFF2-40B4-BE49-F238E27FC236}">
                <a16:creationId xmlns:a16="http://schemas.microsoft.com/office/drawing/2014/main" id="{8751910C-EC25-4872-BBAB-8758917C8E0A}"/>
              </a:ext>
            </a:extLst>
          </p:cNvPr>
          <p:cNvSpPr>
            <a:spLocks noGrp="1"/>
          </p:cNvSpPr>
          <p:nvPr/>
        </p:nvSpPr>
        <p:spPr>
          <a:xfrm>
            <a:off x="8343900" y="3848100"/>
            <a:ext cx="2171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13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ctr">
              <a:defRPr sz="1313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ctr">
              <a:defRPr sz="1313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ctr">
              <a:defRPr sz="1313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ctr">
              <a:defRPr sz="1313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ctr">
              <a:defRPr sz="1313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ctr">
              <a:defRPr sz="1313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ctr">
              <a:defRPr sz="1313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ctr">
              <a:defRPr sz="1313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ctr">
              <a:defRPr sz="1313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13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Tesseract OCR cross-check</a:t>
            </a:r>
          </a:p>
        </p:txBody>
      </p:sp>
      <p:sp>
        <p:nvSpPr>
          <p:cNvPr id="17433" name="architecture-database">
            <a:extLst>
              <a:ext uri="{FF2B5EF4-FFF2-40B4-BE49-F238E27FC236}">
                <a16:creationId xmlns:a16="http://schemas.microsoft.com/office/drawing/2014/main" id="{8C6FCE55-9A43-4E8F-A626-4D949FAE6A9D}"/>
              </a:ext>
            </a:extLst>
          </p:cNvPr>
          <p:cNvSpPr>
            <a:spLocks noGrp="1"/>
          </p:cNvSpPr>
          <p:nvPr/>
        </p:nvSpPr>
        <p:spPr>
          <a:xfrm>
            <a:off x="4143375" y="4857750"/>
            <a:ext cx="2286000" cy="838200"/>
          </a:xfrm>
          <a:prstGeom prst="roundRect">
            <a:avLst>
              <a:gd name="adj" fmla="val 9091"/>
            </a:avLst>
          </a:prstGeom>
          <a:solidFill>
            <a:srgbClr val="EAF2F8"/>
          </a:solidFill>
          <a:ln w="14288">
            <a:solidFill>
              <a:srgbClr val="8EAECC"/>
            </a:solidFill>
            <a:prstDash val="solid"/>
          </a:ln>
        </p:spPr>
      </p:sp>
      <p:sp>
        <p:nvSpPr>
          <p:cNvPr id="17434" name="architecture-db-title">
            <a:extLst>
              <a:ext uri="{FF2B5EF4-FFF2-40B4-BE49-F238E27FC236}">
                <a16:creationId xmlns:a16="http://schemas.microsoft.com/office/drawing/2014/main" id="{66DB954E-718F-4B22-BBBD-B840C072B642}"/>
              </a:ext>
            </a:extLst>
          </p:cNvPr>
          <p:cNvSpPr>
            <a:spLocks noGrp="1"/>
          </p:cNvSpPr>
          <p:nvPr/>
        </p:nvSpPr>
        <p:spPr>
          <a:xfrm>
            <a:off x="4314825" y="4943475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MongoDB</a:t>
            </a:r>
          </a:p>
        </p:txBody>
      </p:sp>
      <p:sp>
        <p:nvSpPr>
          <p:cNvPr id="17435" name="architecture-db-copy">
            <a:extLst>
              <a:ext uri="{FF2B5EF4-FFF2-40B4-BE49-F238E27FC236}">
                <a16:creationId xmlns:a16="http://schemas.microsoft.com/office/drawing/2014/main" id="{AF0F273D-33DF-4523-B76E-458F7B559A09}"/>
              </a:ext>
            </a:extLst>
          </p:cNvPr>
          <p:cNvSpPr>
            <a:spLocks noGrp="1"/>
          </p:cNvSpPr>
          <p:nvPr/>
        </p:nvSpPr>
        <p:spPr>
          <a:xfrm>
            <a:off x="4314825" y="5248275"/>
            <a:ext cx="19431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263746"/>
                </a:solidFill>
                <a:latin typeface="Arial"/>
                <a:ea typeface="Arial"/>
                <a:cs typeface="Arial"/>
              </a:rPr>
              <a:t>Records • users • audit logs</a:t>
            </a:r>
          </a:p>
        </p:txBody>
      </p:sp>
    </p:spTree>
    <p:extLst>
      <p:ext uri="{BB962C8B-B14F-4D97-AF65-F5344CB8AC3E}">
        <p14:creationId xmlns:p14="http://schemas.microsoft.com/office/powerpoint/2010/main" val="1275583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442" name="Straight Arrow Connector 17441">
            <a:extLst>
              <a:ext uri="{FF2B5EF4-FFF2-40B4-BE49-F238E27FC236}">
                <a16:creationId xmlns:a16="http://schemas.microsoft.com/office/drawing/2014/main" id="{8B3196D8-753F-4B9B-8EEA-3F9559BE5F89}"/>
              </a:ext>
            </a:extLst>
          </p:cNvPr>
          <p:cNvCxnSpPr>
            <a:stCxn id="17435" idx="3"/>
            <a:endCxn id="17438" idx="1"/>
          </p:cNvCxnSpPr>
          <p:nvPr/>
        </p:nvCxnSpPr>
        <p:spPr>
          <a:xfrm>
            <a:off x="7715250" y="5314950"/>
            <a:ext cx="523875" cy="0"/>
          </a:xfrm>
          <a:prstGeom prst="straightConnector1">
            <a:avLst/>
          </a:prstGeom>
          <a:ln w="20003">
            <a:solidFill>
              <a:srgbClr val="167D8D"/>
            </a:solidFill>
            <a:prstDash val="solid"/>
            <a:tailEnd type="arrow" w="med" len="med"/>
          </a:ln>
        </p:spPr>
      </p:cxnSp>
      <p:cxnSp>
        <p:nvCxnSpPr>
          <p:cNvPr id="17441" name="Straight Arrow Connector 17440">
            <a:extLst>
              <a:ext uri="{FF2B5EF4-FFF2-40B4-BE49-F238E27FC236}">
                <a16:creationId xmlns:a16="http://schemas.microsoft.com/office/drawing/2014/main" id="{3119D9B1-C49C-4CE8-A3E9-599F341729C1}"/>
              </a:ext>
            </a:extLst>
          </p:cNvPr>
          <p:cNvCxnSpPr>
            <a:stCxn id="17432" idx="3"/>
            <a:endCxn id="17435" idx="1"/>
          </p:cNvCxnSpPr>
          <p:nvPr/>
        </p:nvCxnSpPr>
        <p:spPr>
          <a:xfrm>
            <a:off x="3952875" y="5314950"/>
            <a:ext cx="523875" cy="0"/>
          </a:xfrm>
          <a:prstGeom prst="straightConnector1">
            <a:avLst/>
          </a:prstGeom>
          <a:ln w="20003">
            <a:solidFill>
              <a:srgbClr val="167D8D"/>
            </a:solidFill>
            <a:prstDash val="solid"/>
            <a:tailEnd type="arrow" w="med" len="med"/>
          </a:ln>
        </p:spPr>
      </p:cxnSp>
      <p:cxnSp>
        <p:nvCxnSpPr>
          <p:cNvPr id="17430" name="Straight Arrow Connector 17429">
            <a:extLst>
              <a:ext uri="{FF2B5EF4-FFF2-40B4-BE49-F238E27FC236}">
                <a16:creationId xmlns:a16="http://schemas.microsoft.com/office/drawing/2014/main" id="{442545C3-32C3-437D-9901-78BC46943C5E}"/>
              </a:ext>
            </a:extLst>
          </p:cNvPr>
          <p:cNvCxnSpPr>
            <a:stCxn id="17410" idx="2"/>
            <a:endCxn id="17425" idx="0"/>
          </p:cNvCxnSpPr>
          <p:nvPr/>
        </p:nvCxnSpPr>
        <p:spPr>
          <a:xfrm>
            <a:off x="6096000" y="2333625"/>
            <a:ext cx="3762375" cy="542925"/>
          </a:xfrm>
          <a:prstGeom prst="straightConnector1">
            <a:avLst/>
          </a:prstGeom>
          <a:ln w="20955">
            <a:solidFill>
              <a:srgbClr val="B94A48"/>
            </a:solidFill>
            <a:prstDash val="solid"/>
            <a:tailEnd type="arrow" w="med" len="med"/>
          </a:ln>
        </p:spPr>
      </p:cxnSp>
      <p:cxnSp>
        <p:nvCxnSpPr>
          <p:cNvPr id="17424" name="Straight Arrow Connector 17423">
            <a:extLst>
              <a:ext uri="{FF2B5EF4-FFF2-40B4-BE49-F238E27FC236}">
                <a16:creationId xmlns:a16="http://schemas.microsoft.com/office/drawing/2014/main" id="{6E3C9691-B39B-4457-978D-B828A52C1FDD}"/>
              </a:ext>
            </a:extLst>
          </p:cNvPr>
          <p:cNvCxnSpPr>
            <a:stCxn id="17410" idx="2"/>
            <a:endCxn id="17419" idx="0"/>
          </p:cNvCxnSpPr>
          <p:nvPr/>
        </p:nvCxnSpPr>
        <p:spPr>
          <a:xfrm>
            <a:off x="6096000" y="2333625"/>
            <a:ext cx="0" cy="542925"/>
          </a:xfrm>
          <a:prstGeom prst="straightConnector1">
            <a:avLst/>
          </a:prstGeom>
          <a:ln w="20955">
            <a:solidFill>
              <a:srgbClr val="B57912"/>
            </a:solidFill>
            <a:prstDash val="solid"/>
            <a:tailEnd type="arrow" w="med" len="med"/>
          </a:ln>
        </p:spPr>
      </p:cxnSp>
      <p:cxnSp>
        <p:nvCxnSpPr>
          <p:cNvPr id="17418" name="Straight Arrow Connector 17417">
            <a:extLst>
              <a:ext uri="{FF2B5EF4-FFF2-40B4-BE49-F238E27FC236}">
                <a16:creationId xmlns:a16="http://schemas.microsoft.com/office/drawing/2014/main" id="{84B85049-07FB-4D7E-B831-EF288F2A3E1B}"/>
              </a:ext>
            </a:extLst>
          </p:cNvPr>
          <p:cNvCxnSpPr>
            <a:stCxn id="17410" idx="2"/>
            <a:endCxn id="17413" idx="0"/>
          </p:cNvCxnSpPr>
          <p:nvPr/>
        </p:nvCxnSpPr>
        <p:spPr>
          <a:xfrm flipH="1">
            <a:off x="2333625" y="2333625"/>
            <a:ext cx="3762375" cy="542925"/>
          </a:xfrm>
          <a:prstGeom prst="straightConnector1">
            <a:avLst/>
          </a:prstGeom>
          <a:ln w="20955">
            <a:solidFill>
              <a:srgbClr val="248454"/>
            </a:solidFill>
            <a:prstDash val="solid"/>
            <a:tailEnd type="arrow" w="med" len="med"/>
          </a:ln>
        </p:spPr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Grp="1"/>
          </p:cNvSpPr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76676E02-50E3-42CB-811A-3EA0CD8A5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FEASIBILITY AND VIABILITY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9B186-700E-4E2B-BAAC-C4ADE5F670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4</a:t>
            </a:fld>
            <a:endParaRPr sz="1200" b="1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0D21B2C-C1F7-4412-AC35-94EE8CF3134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Land Record System</a:t>
            </a:r>
            <a:endParaRPr sz="12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noGrp="1"/>
          </p:cNvSpPr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t>LRS AI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2788426-D134-4FE8-8D6F-EE76B04DC7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ting-engine">
            <a:extLst>
              <a:ext uri="{FF2B5EF4-FFF2-40B4-BE49-F238E27FC236}">
                <a16:creationId xmlns:a16="http://schemas.microsoft.com/office/drawing/2014/main" id="{1B66D9C4-90B5-4D6B-9190-5726EE8A527C}"/>
              </a:ext>
            </a:extLst>
          </p:cNvPr>
          <p:cNvSpPr>
            <a:spLocks noGrp="1"/>
          </p:cNvSpPr>
          <p:nvPr/>
        </p:nvSpPr>
        <p:spPr>
          <a:xfrm>
            <a:off x="4667250" y="1590675"/>
            <a:ext cx="2857500" cy="742950"/>
          </a:xfrm>
          <a:prstGeom prst="roundRect">
            <a:avLst>
              <a:gd name="adj" fmla="val 10256"/>
            </a:avLst>
          </a:prstGeom>
          <a:solidFill>
            <a:srgbClr val="EAF2F8"/>
          </a:solidFill>
          <a:ln w="14288">
            <a:solidFill>
              <a:srgbClr val="8EAECC"/>
            </a:solidFill>
            <a:prstDash val="solid"/>
          </a:ln>
        </p:spPr>
      </p:sp>
      <p:sp>
        <p:nvSpPr>
          <p:cNvPr id="17411" name="routing-engine-title">
            <a:extLst>
              <a:ext uri="{FF2B5EF4-FFF2-40B4-BE49-F238E27FC236}">
                <a16:creationId xmlns:a16="http://schemas.microsoft.com/office/drawing/2014/main" id="{CB50FA09-FD9F-41C2-852E-4193A4560E86}"/>
              </a:ext>
            </a:extLst>
          </p:cNvPr>
          <p:cNvSpPr>
            <a:spLocks noGrp="1"/>
          </p:cNvSpPr>
          <p:nvPr/>
        </p:nvSpPr>
        <p:spPr>
          <a:xfrm>
            <a:off x="4838700" y="1685925"/>
            <a:ext cx="25146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72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72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Confidence routing</a:t>
            </a:r>
          </a:p>
        </p:txBody>
      </p:sp>
      <p:sp>
        <p:nvSpPr>
          <p:cNvPr id="17412" name="routing-engine-subtitle">
            <a:extLst>
              <a:ext uri="{FF2B5EF4-FFF2-40B4-BE49-F238E27FC236}">
                <a16:creationId xmlns:a16="http://schemas.microsoft.com/office/drawing/2014/main" id="{EA66DE2E-1180-4FB9-B8A0-C70D004DDE5D}"/>
              </a:ext>
            </a:extLst>
          </p:cNvPr>
          <p:cNvSpPr>
            <a:spLocks noGrp="1"/>
          </p:cNvSpPr>
          <p:nvPr/>
        </p:nvSpPr>
        <p:spPr>
          <a:xfrm>
            <a:off x="4838700" y="1981200"/>
            <a:ext cx="2514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0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ctr">
              <a:defRPr sz="120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63746"/>
                </a:solidFill>
                <a:latin typeface="Arial"/>
                <a:ea typeface="Arial"/>
                <a:cs typeface="Arial"/>
              </a:rPr>
              <a:t>Validation + field confidence</a:t>
            </a:r>
          </a:p>
        </p:txBody>
      </p:sp>
      <p:sp>
        <p:nvSpPr>
          <p:cNvPr id="17413" name="routing-outcome-1">
            <a:extLst>
              <a:ext uri="{FF2B5EF4-FFF2-40B4-BE49-F238E27FC236}">
                <a16:creationId xmlns:a16="http://schemas.microsoft.com/office/drawing/2014/main" id="{D3943587-0A7E-44CF-87AF-EE819A885CF3}"/>
              </a:ext>
            </a:extLst>
          </p:cNvPr>
          <p:cNvSpPr>
            <a:spLocks noGrp="1"/>
          </p:cNvSpPr>
          <p:nvPr/>
        </p:nvSpPr>
        <p:spPr>
          <a:xfrm>
            <a:off x="714375" y="2876550"/>
            <a:ext cx="3238500" cy="1381125"/>
          </a:xfrm>
          <a:prstGeom prst="roundRect">
            <a:avLst>
              <a:gd name="adj" fmla="val 5517"/>
            </a:avLst>
          </a:prstGeom>
          <a:solidFill>
            <a:srgbClr val="E9F5EE"/>
          </a:solidFill>
          <a:ln w="14288">
            <a:solidFill>
              <a:srgbClr val="9CCBAE"/>
            </a:solidFill>
            <a:prstDash val="solid"/>
          </a:ln>
        </p:spPr>
      </p:sp>
      <p:sp>
        <p:nvSpPr>
          <p:cNvPr id="17414" name="routing-threshold-1-dot">
            <a:extLst>
              <a:ext uri="{FF2B5EF4-FFF2-40B4-BE49-F238E27FC236}">
                <a16:creationId xmlns:a16="http://schemas.microsoft.com/office/drawing/2014/main" id="{D34172AC-1C14-4F52-8A3A-8D6855D88D3E}"/>
              </a:ext>
            </a:extLst>
          </p:cNvPr>
          <p:cNvSpPr>
            <a:spLocks noGrp="1"/>
          </p:cNvSpPr>
          <p:nvPr/>
        </p:nvSpPr>
        <p:spPr>
          <a:xfrm>
            <a:off x="895350" y="3038475"/>
            <a:ext cx="133350" cy="133350"/>
          </a:xfrm>
          <a:prstGeom prst="ellipse">
            <a:avLst/>
          </a:prstGeom>
          <a:solidFill>
            <a:srgbClr val="248454"/>
          </a:solidFill>
          <a:ln w="9525">
            <a:solidFill>
              <a:srgbClr val="248454"/>
            </a:solidFill>
            <a:prstDash val="solid"/>
          </a:ln>
        </p:spPr>
      </p:sp>
      <p:sp>
        <p:nvSpPr>
          <p:cNvPr id="17415" name="routing-threshold-1">
            <a:extLst>
              <a:ext uri="{FF2B5EF4-FFF2-40B4-BE49-F238E27FC236}">
                <a16:creationId xmlns:a16="http://schemas.microsoft.com/office/drawing/2014/main" id="{94ED6BC8-AB46-4D81-B30D-B2AB18A36244}"/>
              </a:ext>
            </a:extLst>
          </p:cNvPr>
          <p:cNvSpPr>
            <a:spLocks noGrp="1"/>
          </p:cNvSpPr>
          <p:nvPr/>
        </p:nvSpPr>
        <p:spPr>
          <a:xfrm>
            <a:off x="1123950" y="2943225"/>
            <a:ext cx="26289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725" b="1">
                <a:solidFill>
                  <a:srgbClr val="24845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24845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24845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24845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24845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24845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24845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24845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24845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24845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2484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8454"/>
                </a:solidFill>
                <a:latin typeface="Arial"/>
                <a:ea typeface="Arial"/>
                <a:cs typeface="Arial"/>
              </a:rPr>
              <a:t>&gt; 90%</a:t>
            </a:r>
          </a:p>
        </p:txBody>
      </p:sp>
      <p:sp>
        <p:nvSpPr>
          <p:cNvPr id="17416" name="routing-title-1">
            <a:extLst>
              <a:ext uri="{FF2B5EF4-FFF2-40B4-BE49-F238E27FC236}">
                <a16:creationId xmlns:a16="http://schemas.microsoft.com/office/drawing/2014/main" id="{CC8A9F6D-5FD6-4EB7-B722-11E7ED857343}"/>
              </a:ext>
            </a:extLst>
          </p:cNvPr>
          <p:cNvSpPr>
            <a:spLocks noGrp="1"/>
          </p:cNvSpPr>
          <p:nvPr/>
        </p:nvSpPr>
        <p:spPr>
          <a:xfrm>
            <a:off x="885825" y="3333750"/>
            <a:ext cx="2895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Auto-accept</a:t>
            </a:r>
          </a:p>
        </p:txBody>
      </p:sp>
      <p:sp>
        <p:nvSpPr>
          <p:cNvPr id="17417" name="routing-detail-1">
            <a:extLst>
              <a:ext uri="{FF2B5EF4-FFF2-40B4-BE49-F238E27FC236}">
                <a16:creationId xmlns:a16="http://schemas.microsoft.com/office/drawing/2014/main" id="{B08BF671-F389-4FA2-B02E-4E6E33738953}"/>
              </a:ext>
            </a:extLst>
          </p:cNvPr>
          <p:cNvSpPr>
            <a:spLocks noGrp="1"/>
          </p:cNvSpPr>
          <p:nvPr/>
        </p:nvSpPr>
        <p:spPr>
          <a:xfrm>
            <a:off x="904875" y="3638550"/>
            <a:ext cx="2857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263746"/>
                </a:solidFill>
                <a:latin typeface="Arial"/>
                <a:ea typeface="Arial"/>
                <a:cs typeface="Arial"/>
              </a:rPr>
              <a:t>Save as a digital record</a:t>
            </a:r>
          </a:p>
          <a:p>
            <a: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263746"/>
                </a:solidFill>
                <a:latin typeface="Arial"/>
                <a:ea typeface="Arial"/>
                <a:cs typeface="Arial"/>
              </a:rPr>
              <a:t>Flag the action in the audit log</a:t>
            </a:r>
          </a:p>
        </p:txBody>
      </p:sp>
      <p:sp>
        <p:nvSpPr>
          <p:cNvPr id="17419" name="routing-outcome-2">
            <a:extLst>
              <a:ext uri="{FF2B5EF4-FFF2-40B4-BE49-F238E27FC236}">
                <a16:creationId xmlns:a16="http://schemas.microsoft.com/office/drawing/2014/main" id="{98F197D4-E595-46F1-9A95-617CA9B3014A}"/>
              </a:ext>
            </a:extLst>
          </p:cNvPr>
          <p:cNvSpPr>
            <a:spLocks noGrp="1"/>
          </p:cNvSpPr>
          <p:nvPr/>
        </p:nvSpPr>
        <p:spPr>
          <a:xfrm>
            <a:off x="4476750" y="2876550"/>
            <a:ext cx="3238500" cy="1381125"/>
          </a:xfrm>
          <a:prstGeom prst="roundRect">
            <a:avLst>
              <a:gd name="adj" fmla="val 5517"/>
            </a:avLst>
          </a:prstGeom>
          <a:solidFill>
            <a:srgbClr val="FFF5DF"/>
          </a:solidFill>
          <a:ln w="14288">
            <a:solidFill>
              <a:srgbClr val="D5B972"/>
            </a:solidFill>
            <a:prstDash val="solid"/>
          </a:ln>
        </p:spPr>
      </p:sp>
      <p:sp>
        <p:nvSpPr>
          <p:cNvPr id="17420" name="routing-threshold-2-dot">
            <a:extLst>
              <a:ext uri="{FF2B5EF4-FFF2-40B4-BE49-F238E27FC236}">
                <a16:creationId xmlns:a16="http://schemas.microsoft.com/office/drawing/2014/main" id="{F8EE131E-AC70-41C5-AD8E-8E0A0F1845FA}"/>
              </a:ext>
            </a:extLst>
          </p:cNvPr>
          <p:cNvSpPr>
            <a:spLocks noGrp="1"/>
          </p:cNvSpPr>
          <p:nvPr/>
        </p:nvSpPr>
        <p:spPr>
          <a:xfrm>
            <a:off x="4657725" y="3038475"/>
            <a:ext cx="133350" cy="133350"/>
          </a:xfrm>
          <a:prstGeom prst="ellipse">
            <a:avLst/>
          </a:prstGeom>
          <a:solidFill>
            <a:srgbClr val="B57912"/>
          </a:solidFill>
          <a:ln w="9525">
            <a:solidFill>
              <a:srgbClr val="B57912"/>
            </a:solidFill>
            <a:prstDash val="solid"/>
          </a:ln>
        </p:spPr>
      </p:sp>
      <p:sp>
        <p:nvSpPr>
          <p:cNvPr id="17421" name="routing-threshold-2">
            <a:extLst>
              <a:ext uri="{FF2B5EF4-FFF2-40B4-BE49-F238E27FC236}">
                <a16:creationId xmlns:a16="http://schemas.microsoft.com/office/drawing/2014/main" id="{01714D95-49B7-423B-9215-568A606656EE}"/>
              </a:ext>
            </a:extLst>
          </p:cNvPr>
          <p:cNvSpPr>
            <a:spLocks noGrp="1"/>
          </p:cNvSpPr>
          <p:nvPr/>
        </p:nvSpPr>
        <p:spPr>
          <a:xfrm>
            <a:off x="4886325" y="2943225"/>
            <a:ext cx="26289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725" b="1">
                <a:solidFill>
                  <a:srgbClr val="B57912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B57912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B57912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B57912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B57912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B57912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B57912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B57912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B57912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B5791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B579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57912"/>
                </a:solidFill>
                <a:latin typeface="Arial"/>
                <a:ea typeface="Arial"/>
                <a:cs typeface="Arial"/>
              </a:rPr>
              <a:t>70–90%</a:t>
            </a:r>
          </a:p>
        </p:txBody>
      </p:sp>
      <p:sp>
        <p:nvSpPr>
          <p:cNvPr id="17422" name="routing-title-2">
            <a:extLst>
              <a:ext uri="{FF2B5EF4-FFF2-40B4-BE49-F238E27FC236}">
                <a16:creationId xmlns:a16="http://schemas.microsoft.com/office/drawing/2014/main" id="{CFA617A4-FFE8-4E1E-993C-47A9CD3B720D}"/>
              </a:ext>
            </a:extLst>
          </p:cNvPr>
          <p:cNvSpPr>
            <a:spLocks noGrp="1"/>
          </p:cNvSpPr>
          <p:nvPr/>
        </p:nvSpPr>
        <p:spPr>
          <a:xfrm>
            <a:off x="4648200" y="3333750"/>
            <a:ext cx="2895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Officer review</a:t>
            </a:r>
          </a:p>
        </p:txBody>
      </p:sp>
      <p:sp>
        <p:nvSpPr>
          <p:cNvPr id="17423" name="routing-detail-2">
            <a:extLst>
              <a:ext uri="{FF2B5EF4-FFF2-40B4-BE49-F238E27FC236}">
                <a16:creationId xmlns:a16="http://schemas.microsoft.com/office/drawing/2014/main" id="{91F58594-CBB8-4F9E-9C85-C5F60C87FE1C}"/>
              </a:ext>
            </a:extLst>
          </p:cNvPr>
          <p:cNvSpPr>
            <a:spLocks noGrp="1"/>
          </p:cNvSpPr>
          <p:nvPr/>
        </p:nvSpPr>
        <p:spPr>
          <a:xfrm>
            <a:off x="4667250" y="3638550"/>
            <a:ext cx="2857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263746"/>
                </a:solidFill>
                <a:latin typeface="Arial"/>
                <a:ea typeface="Arial"/>
                <a:cs typeface="Arial"/>
              </a:rPr>
              <a:t>Revenue staff verify</a:t>
            </a:r>
          </a:p>
          <a:p>
            <a: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263746"/>
                </a:solidFill>
                <a:latin typeface="Arial"/>
                <a:ea typeface="Arial"/>
                <a:cs typeface="Arial"/>
              </a:rPr>
              <a:t>uncertain extracted fields</a:t>
            </a:r>
          </a:p>
        </p:txBody>
      </p:sp>
      <p:sp>
        <p:nvSpPr>
          <p:cNvPr id="17425" name="routing-outcome-3">
            <a:extLst>
              <a:ext uri="{FF2B5EF4-FFF2-40B4-BE49-F238E27FC236}">
                <a16:creationId xmlns:a16="http://schemas.microsoft.com/office/drawing/2014/main" id="{62B5C623-59DC-4146-BA06-455239D25D74}"/>
              </a:ext>
            </a:extLst>
          </p:cNvPr>
          <p:cNvSpPr>
            <a:spLocks noGrp="1"/>
          </p:cNvSpPr>
          <p:nvPr/>
        </p:nvSpPr>
        <p:spPr>
          <a:xfrm>
            <a:off x="8239125" y="2876550"/>
            <a:ext cx="3238500" cy="1381125"/>
          </a:xfrm>
          <a:prstGeom prst="roundRect">
            <a:avLst>
              <a:gd name="adj" fmla="val 5517"/>
            </a:avLst>
          </a:prstGeom>
          <a:solidFill>
            <a:srgbClr val="FBEDEC"/>
          </a:solidFill>
          <a:ln w="14288">
            <a:solidFill>
              <a:srgbClr val="D9A19F"/>
            </a:solidFill>
            <a:prstDash val="solid"/>
          </a:ln>
        </p:spPr>
      </p:sp>
      <p:sp>
        <p:nvSpPr>
          <p:cNvPr id="17426" name="routing-threshold-3-dot">
            <a:extLst>
              <a:ext uri="{FF2B5EF4-FFF2-40B4-BE49-F238E27FC236}">
                <a16:creationId xmlns:a16="http://schemas.microsoft.com/office/drawing/2014/main" id="{534F5142-0644-4AEA-8D7D-ADEB2F6FD6F0}"/>
              </a:ext>
            </a:extLst>
          </p:cNvPr>
          <p:cNvSpPr>
            <a:spLocks noGrp="1"/>
          </p:cNvSpPr>
          <p:nvPr/>
        </p:nvSpPr>
        <p:spPr>
          <a:xfrm>
            <a:off x="8420100" y="3038475"/>
            <a:ext cx="133350" cy="133350"/>
          </a:xfrm>
          <a:prstGeom prst="ellipse">
            <a:avLst/>
          </a:prstGeom>
          <a:solidFill>
            <a:srgbClr val="B94A48"/>
          </a:solidFill>
          <a:ln w="9525">
            <a:solidFill>
              <a:srgbClr val="B94A48"/>
            </a:solidFill>
            <a:prstDash val="solid"/>
          </a:ln>
        </p:spPr>
      </p:sp>
      <p:sp>
        <p:nvSpPr>
          <p:cNvPr id="17427" name="routing-threshold-3">
            <a:extLst>
              <a:ext uri="{FF2B5EF4-FFF2-40B4-BE49-F238E27FC236}">
                <a16:creationId xmlns:a16="http://schemas.microsoft.com/office/drawing/2014/main" id="{E93BA638-FFF8-4DE3-8776-A1548732C577}"/>
              </a:ext>
            </a:extLst>
          </p:cNvPr>
          <p:cNvSpPr>
            <a:spLocks noGrp="1"/>
          </p:cNvSpPr>
          <p:nvPr/>
        </p:nvSpPr>
        <p:spPr>
          <a:xfrm>
            <a:off x="8648700" y="2943225"/>
            <a:ext cx="26289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725" b="1">
                <a:solidFill>
                  <a:srgbClr val="B94A4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B94A4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B94A4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B94A4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B94A4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B94A4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B94A4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B94A4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B94A4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B94A4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B94A4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94A48"/>
                </a:solidFill>
                <a:latin typeface="Arial"/>
                <a:ea typeface="Arial"/>
                <a:cs typeface="Arial"/>
              </a:rPr>
              <a:t>&lt; 70%</a:t>
            </a:r>
          </a:p>
        </p:txBody>
      </p:sp>
      <p:sp>
        <p:nvSpPr>
          <p:cNvPr id="17428" name="routing-title-3">
            <a:extLst>
              <a:ext uri="{FF2B5EF4-FFF2-40B4-BE49-F238E27FC236}">
                <a16:creationId xmlns:a16="http://schemas.microsoft.com/office/drawing/2014/main" id="{1908CD3E-C1A0-42BD-B6A2-9575EFC0E11F}"/>
              </a:ext>
            </a:extLst>
          </p:cNvPr>
          <p:cNvSpPr>
            <a:spLocks noGrp="1"/>
          </p:cNvSpPr>
          <p:nvPr/>
        </p:nvSpPr>
        <p:spPr>
          <a:xfrm>
            <a:off x="8410575" y="3333750"/>
            <a:ext cx="2895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Mandatory verification</a:t>
            </a:r>
          </a:p>
        </p:txBody>
      </p:sp>
      <p:sp>
        <p:nvSpPr>
          <p:cNvPr id="17429" name="routing-detail-3">
            <a:extLst>
              <a:ext uri="{FF2B5EF4-FFF2-40B4-BE49-F238E27FC236}">
                <a16:creationId xmlns:a16="http://schemas.microsoft.com/office/drawing/2014/main" id="{42B00EEF-3105-4068-A26C-E42E42C29D68}"/>
              </a:ext>
            </a:extLst>
          </p:cNvPr>
          <p:cNvSpPr>
            <a:spLocks noGrp="1"/>
          </p:cNvSpPr>
          <p:nvPr/>
        </p:nvSpPr>
        <p:spPr>
          <a:xfrm>
            <a:off x="8429625" y="3638550"/>
            <a:ext cx="2857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263746"/>
                </a:solidFill>
                <a:latin typeface="Arial"/>
                <a:ea typeface="Arial"/>
                <a:cs typeface="Arial"/>
              </a:rPr>
              <a:t>Resolve low-confidence data</a:t>
            </a:r>
          </a:p>
          <a:p>
            <a: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263746"/>
                </a:solidFill>
                <a:latin typeface="Arial"/>
                <a:ea typeface="Arial"/>
                <a:cs typeface="Arial"/>
              </a:rPr>
              <a:t>before accepting the record</a:t>
            </a:r>
          </a:p>
        </p:txBody>
      </p:sp>
      <p:sp>
        <p:nvSpPr>
          <p:cNvPr id="17431" name="fallback-title">
            <a:extLst>
              <a:ext uri="{FF2B5EF4-FFF2-40B4-BE49-F238E27FC236}">
                <a16:creationId xmlns:a16="http://schemas.microsoft.com/office/drawing/2014/main" id="{71009C49-4DDD-4C0D-8CA2-43FCDD902BC3}"/>
              </a:ext>
            </a:extLst>
          </p:cNvPr>
          <p:cNvSpPr>
            <a:spLocks noGrp="1"/>
          </p:cNvSpPr>
          <p:nvPr/>
        </p:nvSpPr>
        <p:spPr>
          <a:xfrm>
            <a:off x="1619250" y="4505325"/>
            <a:ext cx="895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GRACEFUL FALLBACKS WHEN OPTIONAL AI / OCR TOOLS ARE UNAVAILABLE</a:t>
            </a:r>
          </a:p>
        </p:txBody>
      </p:sp>
      <p:sp>
        <p:nvSpPr>
          <p:cNvPr id="17432" name="fallback-1">
            <a:extLst>
              <a:ext uri="{FF2B5EF4-FFF2-40B4-BE49-F238E27FC236}">
                <a16:creationId xmlns:a16="http://schemas.microsoft.com/office/drawing/2014/main" id="{A3957486-BA8C-487E-9816-F95C712B27C6}"/>
              </a:ext>
            </a:extLst>
          </p:cNvPr>
          <p:cNvSpPr>
            <a:spLocks noGrp="1"/>
          </p:cNvSpPr>
          <p:nvPr/>
        </p:nvSpPr>
        <p:spPr>
          <a:xfrm>
            <a:off x="714375" y="4876800"/>
            <a:ext cx="3238500" cy="876300"/>
          </a:xfrm>
          <a:prstGeom prst="roundRect">
            <a:avLst>
              <a:gd name="adj" fmla="val 8696"/>
            </a:avLst>
          </a:prstGeom>
          <a:solidFill>
            <a:srgbClr val="EAF2F8"/>
          </a:solidFill>
          <a:ln w="14288">
            <a:solidFill>
              <a:srgbClr val="8EAECC"/>
            </a:solidFill>
            <a:prstDash val="solid"/>
          </a:ln>
        </p:spPr>
      </p:sp>
      <p:sp>
        <p:nvSpPr>
          <p:cNvPr id="17433" name="fallback-1-title">
            <a:extLst>
              <a:ext uri="{FF2B5EF4-FFF2-40B4-BE49-F238E27FC236}">
                <a16:creationId xmlns:a16="http://schemas.microsoft.com/office/drawing/2014/main" id="{EF78997A-E190-4261-840B-214ABDE23C86}"/>
              </a:ext>
            </a:extLst>
          </p:cNvPr>
          <p:cNvSpPr>
            <a:spLocks noGrp="1"/>
          </p:cNvSpPr>
          <p:nvPr/>
        </p:nvSpPr>
        <p:spPr>
          <a:xfrm>
            <a:off x="847725" y="4953000"/>
            <a:ext cx="29718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8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defPPr>
            <a:lvl1pPr algn="ctr">
              <a:defRPr sz="138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1pPr>
            <a:lvl2pPr algn="ctr">
              <a:defRPr sz="138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2pPr>
            <a:lvl3pPr algn="ctr">
              <a:defRPr sz="138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3pPr>
            <a:lvl4pPr algn="ctr">
              <a:defRPr sz="138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4pPr>
            <a:lvl5pPr algn="ctr">
              <a:defRPr sz="138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5pPr>
            <a:lvl6pPr algn="ctr">
              <a:defRPr sz="138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6pPr>
            <a:lvl7pPr algn="ctr">
              <a:defRPr sz="138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7pPr>
            <a:lvl8pPr algn="ctr">
              <a:defRPr sz="138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8pPr>
            <a:lvl9pPr algn="ctr">
              <a:defRPr sz="138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8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388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Gemini vision / text</a:t>
            </a:r>
          </a:p>
        </p:txBody>
      </p:sp>
      <p:sp>
        <p:nvSpPr>
          <p:cNvPr id="17434" name="fallback-1-detail">
            <a:extLst>
              <a:ext uri="{FF2B5EF4-FFF2-40B4-BE49-F238E27FC236}">
                <a16:creationId xmlns:a16="http://schemas.microsoft.com/office/drawing/2014/main" id="{FF3904A1-BB08-473E-9F74-33F3C1E40D40}"/>
              </a:ext>
            </a:extLst>
          </p:cNvPr>
          <p:cNvSpPr>
            <a:spLocks noGrp="1"/>
          </p:cNvSpPr>
          <p:nvPr/>
        </p:nvSpPr>
        <p:spPr>
          <a:xfrm>
            <a:off x="866775" y="5267325"/>
            <a:ext cx="29337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63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ctr">
              <a:defRPr sz="116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ctr">
              <a:defRPr sz="116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ctr">
              <a:defRPr sz="116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ctr">
              <a:defRPr sz="116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ctr">
              <a:defRPr sz="116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ctr">
              <a:defRPr sz="116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ctr">
              <a:defRPr sz="116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ctr">
              <a:defRPr sz="116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ctr">
              <a:defRPr sz="116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63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263746"/>
                </a:solidFill>
                <a:latin typeface="Arial"/>
                <a:ea typeface="Arial"/>
                <a:cs typeface="Arial"/>
              </a:rPr>
              <a:t>Primary multimodal extraction</a:t>
            </a:r>
          </a:p>
        </p:txBody>
      </p:sp>
      <p:sp>
        <p:nvSpPr>
          <p:cNvPr id="17435" name="fallback-2">
            <a:extLst>
              <a:ext uri="{FF2B5EF4-FFF2-40B4-BE49-F238E27FC236}">
                <a16:creationId xmlns:a16="http://schemas.microsoft.com/office/drawing/2014/main" id="{786F6166-8584-4737-931B-C38E31A3FD78}"/>
              </a:ext>
            </a:extLst>
          </p:cNvPr>
          <p:cNvSpPr>
            <a:spLocks noGrp="1"/>
          </p:cNvSpPr>
          <p:nvPr/>
        </p:nvSpPr>
        <p:spPr>
          <a:xfrm>
            <a:off x="4476750" y="4876800"/>
            <a:ext cx="3238500" cy="876300"/>
          </a:xfrm>
          <a:prstGeom prst="roundRect">
            <a:avLst>
              <a:gd name="adj" fmla="val 8696"/>
            </a:avLst>
          </a:prstGeom>
          <a:solidFill>
            <a:srgbClr val="EAF5F6"/>
          </a:solidFill>
          <a:ln w="14288">
            <a:solidFill>
              <a:srgbClr val="91C4C9"/>
            </a:solidFill>
            <a:prstDash val="solid"/>
          </a:ln>
        </p:spPr>
      </p:sp>
      <p:sp>
        <p:nvSpPr>
          <p:cNvPr id="17436" name="fallback-2-title">
            <a:extLst>
              <a:ext uri="{FF2B5EF4-FFF2-40B4-BE49-F238E27FC236}">
                <a16:creationId xmlns:a16="http://schemas.microsoft.com/office/drawing/2014/main" id="{161B2F72-00AD-4B8B-A33F-BB79AAE88D95}"/>
              </a:ext>
            </a:extLst>
          </p:cNvPr>
          <p:cNvSpPr>
            <a:spLocks noGrp="1"/>
          </p:cNvSpPr>
          <p:nvPr/>
        </p:nvSpPr>
        <p:spPr>
          <a:xfrm>
            <a:off x="4610100" y="4953000"/>
            <a:ext cx="29718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8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defPPr>
            <a:lvl1pPr algn="ctr">
              <a:defRPr sz="138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1pPr>
            <a:lvl2pPr algn="ctr">
              <a:defRPr sz="138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2pPr>
            <a:lvl3pPr algn="ctr">
              <a:defRPr sz="138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3pPr>
            <a:lvl4pPr algn="ctr">
              <a:defRPr sz="138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4pPr>
            <a:lvl5pPr algn="ctr">
              <a:defRPr sz="138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5pPr>
            <a:lvl6pPr algn="ctr">
              <a:defRPr sz="138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6pPr>
            <a:lvl7pPr algn="ctr">
              <a:defRPr sz="138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7pPr>
            <a:lvl8pPr algn="ctr">
              <a:defRPr sz="138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8pPr>
            <a:lvl9pPr algn="ctr">
              <a:defRPr sz="138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8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388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Tesseract OCR + regex</a:t>
            </a:r>
          </a:p>
        </p:txBody>
      </p:sp>
      <p:sp>
        <p:nvSpPr>
          <p:cNvPr id="17437" name="fallback-2-detail">
            <a:extLst>
              <a:ext uri="{FF2B5EF4-FFF2-40B4-BE49-F238E27FC236}">
                <a16:creationId xmlns:a16="http://schemas.microsoft.com/office/drawing/2014/main" id="{8D6DFFED-7D91-4E5B-89F7-70156080E3FE}"/>
              </a:ext>
            </a:extLst>
          </p:cNvPr>
          <p:cNvSpPr>
            <a:spLocks noGrp="1"/>
          </p:cNvSpPr>
          <p:nvPr/>
        </p:nvSpPr>
        <p:spPr>
          <a:xfrm>
            <a:off x="4629150" y="5267325"/>
            <a:ext cx="29337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63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ctr">
              <a:defRPr sz="116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ctr">
              <a:defRPr sz="116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ctr">
              <a:defRPr sz="116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ctr">
              <a:defRPr sz="116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ctr">
              <a:defRPr sz="116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ctr">
              <a:defRPr sz="116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ctr">
              <a:defRPr sz="116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ctr">
              <a:defRPr sz="116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ctr">
              <a:defRPr sz="116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63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263746"/>
                </a:solidFill>
                <a:latin typeface="Arial"/>
                <a:ea typeface="Arial"/>
                <a:cs typeface="Arial"/>
              </a:rPr>
              <a:t>Local OCR and deterministic checks</a:t>
            </a:r>
          </a:p>
        </p:txBody>
      </p:sp>
      <p:sp>
        <p:nvSpPr>
          <p:cNvPr id="17438" name="fallback-3">
            <a:extLst>
              <a:ext uri="{FF2B5EF4-FFF2-40B4-BE49-F238E27FC236}">
                <a16:creationId xmlns:a16="http://schemas.microsoft.com/office/drawing/2014/main" id="{8F4F9502-4ACA-4604-A0C6-22416F08E9A0}"/>
              </a:ext>
            </a:extLst>
          </p:cNvPr>
          <p:cNvSpPr>
            <a:spLocks noGrp="1"/>
          </p:cNvSpPr>
          <p:nvPr/>
        </p:nvSpPr>
        <p:spPr>
          <a:xfrm>
            <a:off x="8239125" y="4876800"/>
            <a:ext cx="3238500" cy="876300"/>
          </a:xfrm>
          <a:prstGeom prst="roundRect">
            <a:avLst>
              <a:gd name="adj" fmla="val 8696"/>
            </a:avLst>
          </a:prstGeom>
          <a:solidFill>
            <a:srgbClr val="F3F6F8"/>
          </a:solidFill>
          <a:ln w="14288">
            <a:solidFill>
              <a:srgbClr val="AEC1D1"/>
            </a:solidFill>
            <a:prstDash val="solid"/>
          </a:ln>
        </p:spPr>
      </p:sp>
      <p:sp>
        <p:nvSpPr>
          <p:cNvPr id="17439" name="fallback-3-title">
            <a:extLst>
              <a:ext uri="{FF2B5EF4-FFF2-40B4-BE49-F238E27FC236}">
                <a16:creationId xmlns:a16="http://schemas.microsoft.com/office/drawing/2014/main" id="{1A9051FD-05D6-45D8-815E-E1027E76E22F}"/>
              </a:ext>
            </a:extLst>
          </p:cNvPr>
          <p:cNvSpPr>
            <a:spLocks noGrp="1"/>
          </p:cNvSpPr>
          <p:nvPr/>
        </p:nvSpPr>
        <p:spPr>
          <a:xfrm>
            <a:off x="8372475" y="4953000"/>
            <a:ext cx="29718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8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defPPr>
            <a:lvl1pPr algn="ctr">
              <a:defRPr sz="138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1pPr>
            <a:lvl2pPr algn="ctr">
              <a:defRPr sz="138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2pPr>
            <a:lvl3pPr algn="ctr">
              <a:defRPr sz="138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3pPr>
            <a:lvl4pPr algn="ctr">
              <a:defRPr sz="138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4pPr>
            <a:lvl5pPr algn="ctr">
              <a:defRPr sz="138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5pPr>
            <a:lvl6pPr algn="ctr">
              <a:defRPr sz="138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6pPr>
            <a:lvl7pPr algn="ctr">
              <a:defRPr sz="138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7pPr>
            <a:lvl8pPr algn="ctr">
              <a:defRPr sz="138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8pPr>
            <a:lvl9pPr algn="ctr">
              <a:defRPr sz="138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8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388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Text / Node fallback</a:t>
            </a:r>
          </a:p>
        </p:txBody>
      </p:sp>
      <p:sp>
        <p:nvSpPr>
          <p:cNvPr id="17440" name="fallback-3-detail">
            <a:extLst>
              <a:ext uri="{FF2B5EF4-FFF2-40B4-BE49-F238E27FC236}">
                <a16:creationId xmlns:a16="http://schemas.microsoft.com/office/drawing/2014/main" id="{F3E656F9-CF15-4ADF-9B02-EA8A47F70823}"/>
              </a:ext>
            </a:extLst>
          </p:cNvPr>
          <p:cNvSpPr>
            <a:spLocks noGrp="1"/>
          </p:cNvSpPr>
          <p:nvPr/>
        </p:nvSpPr>
        <p:spPr>
          <a:xfrm>
            <a:off x="8391525" y="5267325"/>
            <a:ext cx="29337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63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ctr">
              <a:defRPr sz="116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ctr">
              <a:defRPr sz="116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ctr">
              <a:defRPr sz="116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ctr">
              <a:defRPr sz="116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ctr">
              <a:defRPr sz="116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ctr">
              <a:defRPr sz="116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ctr">
              <a:defRPr sz="116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ctr">
              <a:defRPr sz="116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ctr">
              <a:defRPr sz="1163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63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263746"/>
                </a:solidFill>
                <a:latin typeface="Arial"/>
                <a:ea typeface="Arial"/>
                <a:cs typeface="Arial"/>
              </a:rPr>
              <a:t>Text layer or heuristic + warning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432" name="Straight Arrow Connector 17431">
            <a:extLst>
              <a:ext uri="{FF2B5EF4-FFF2-40B4-BE49-F238E27FC236}">
                <a16:creationId xmlns:a16="http://schemas.microsoft.com/office/drawing/2014/main" id="{804C6BE1-334F-47A2-9EC9-327B6905A430}"/>
              </a:ext>
            </a:extLst>
          </p:cNvPr>
          <p:cNvCxnSpPr>
            <a:stCxn id="17415" idx="2"/>
            <a:endCxn id="17425" idx="0"/>
          </p:cNvCxnSpPr>
          <p:nvPr/>
        </p:nvCxnSpPr>
        <p:spPr>
          <a:xfrm>
            <a:off x="6096000" y="4048125"/>
            <a:ext cx="0" cy="714375"/>
          </a:xfrm>
          <a:prstGeom prst="straightConnector1">
            <a:avLst/>
          </a:prstGeom>
          <a:ln w="22860">
            <a:solidFill>
              <a:srgbClr val="B57912"/>
            </a:solidFill>
            <a:prstDash val="solid"/>
            <a:tailEnd type="arrow" w="med" len="med"/>
          </a:ln>
        </p:spPr>
      </p:cxnSp>
      <p:cxnSp>
        <p:nvCxnSpPr>
          <p:cNvPr id="17431" name="Straight Arrow Connector 17430">
            <a:extLst>
              <a:ext uri="{FF2B5EF4-FFF2-40B4-BE49-F238E27FC236}">
                <a16:creationId xmlns:a16="http://schemas.microsoft.com/office/drawing/2014/main" id="{F25B7812-C99D-4E87-A426-21DE3A8FFE88}"/>
              </a:ext>
            </a:extLst>
          </p:cNvPr>
          <p:cNvCxnSpPr>
            <a:stCxn id="17415" idx="3"/>
            <a:endCxn id="17420" idx="1"/>
          </p:cNvCxnSpPr>
          <p:nvPr/>
        </p:nvCxnSpPr>
        <p:spPr>
          <a:xfrm flipV="1">
            <a:off x="7524750" y="3429000"/>
            <a:ext cx="1095375" cy="38100"/>
          </a:xfrm>
          <a:prstGeom prst="straightConnector1">
            <a:avLst/>
          </a:prstGeom>
          <a:ln w="22860">
            <a:solidFill>
              <a:srgbClr val="167D8D"/>
            </a:solidFill>
            <a:prstDash val="solid"/>
            <a:tailEnd type="arrow" w="med" len="med"/>
          </a:ln>
        </p:spPr>
      </p:cxnSp>
      <p:cxnSp>
        <p:nvCxnSpPr>
          <p:cNvPr id="17430" name="Straight Arrow Connector 17429">
            <a:extLst>
              <a:ext uri="{FF2B5EF4-FFF2-40B4-BE49-F238E27FC236}">
                <a16:creationId xmlns:a16="http://schemas.microsoft.com/office/drawing/2014/main" id="{A99A0B23-5407-4CC7-AE82-524A74336891}"/>
              </a:ext>
            </a:extLst>
          </p:cNvPr>
          <p:cNvCxnSpPr>
            <a:stCxn id="17415" idx="1"/>
            <a:endCxn id="17410" idx="3"/>
          </p:cNvCxnSpPr>
          <p:nvPr/>
        </p:nvCxnSpPr>
        <p:spPr>
          <a:xfrm flipH="1" flipV="1">
            <a:off x="3571875" y="3429000"/>
            <a:ext cx="1095375" cy="38100"/>
          </a:xfrm>
          <a:prstGeom prst="straightConnector1">
            <a:avLst/>
          </a:prstGeom>
          <a:ln w="22860">
            <a:solidFill>
              <a:srgbClr val="0070C0"/>
            </a:solidFill>
            <a:prstDash val="solid"/>
            <a:tailEnd type="arrow" w="med" len="med"/>
          </a:ln>
        </p:spPr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Grp="1"/>
          </p:cNvSpPr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87394C84-F2DD-42FD-B65B-696F93464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IMPACT AND BENEFITS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67DFC-4BD2-460D-BAA4-6059646260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5</a:t>
            </a:fld>
            <a:endParaRPr sz="1200" b="1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23BCB08-E232-49A5-B6FF-115610AA5A66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Land Record System</a:t>
            </a:r>
            <a:endParaRPr sz="12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noGrp="1"/>
          </p:cNvSpPr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t>LRS AI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CDD8358-06AB-42FD-8D62-FD07CD1C1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impact-citizens">
            <a:extLst>
              <a:ext uri="{FF2B5EF4-FFF2-40B4-BE49-F238E27FC236}">
                <a16:creationId xmlns:a16="http://schemas.microsoft.com/office/drawing/2014/main" id="{1A062D17-07D1-4530-8F9F-56595CF6D3F5}"/>
              </a:ext>
            </a:extLst>
          </p:cNvPr>
          <p:cNvSpPr>
            <a:spLocks noGrp="1"/>
          </p:cNvSpPr>
          <p:nvPr/>
        </p:nvSpPr>
        <p:spPr>
          <a:xfrm>
            <a:off x="714375" y="2714625"/>
            <a:ext cx="2857500" cy="1428750"/>
          </a:xfrm>
          <a:prstGeom prst="roundRect">
            <a:avLst>
              <a:gd name="adj" fmla="val 5333"/>
            </a:avLst>
          </a:prstGeom>
          <a:solidFill>
            <a:srgbClr val="EAF2F8"/>
          </a:solidFill>
          <a:ln w="14288">
            <a:solidFill>
              <a:srgbClr val="8EAECC"/>
            </a:solidFill>
            <a:prstDash val="solid"/>
          </a:ln>
        </p:spPr>
      </p:sp>
      <p:sp>
        <p:nvSpPr>
          <p:cNvPr id="17411" name="impact-citizen-icon">
            <a:extLst>
              <a:ext uri="{FF2B5EF4-FFF2-40B4-BE49-F238E27FC236}">
                <a16:creationId xmlns:a16="http://schemas.microsoft.com/office/drawing/2014/main" id="{E56C1E7D-B7AB-400E-AF32-52BEC32BD77E}"/>
              </a:ext>
            </a:extLst>
          </p:cNvPr>
          <p:cNvSpPr>
            <a:spLocks noGrp="1"/>
          </p:cNvSpPr>
          <p:nvPr/>
        </p:nvSpPr>
        <p:spPr>
          <a:xfrm>
            <a:off x="895350" y="2886075"/>
            <a:ext cx="400050" cy="40005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prstDash val="solid"/>
          </a:ln>
        </p:spPr>
      </p:sp>
      <p:sp>
        <p:nvSpPr>
          <p:cNvPr id="17412" name="impact-citizen-glyph">
            <a:extLst>
              <a:ext uri="{FF2B5EF4-FFF2-40B4-BE49-F238E27FC236}">
                <a16:creationId xmlns:a16="http://schemas.microsoft.com/office/drawing/2014/main" id="{6AF0C846-FD12-4FDD-ACA7-9B4F13BF235C}"/>
              </a:ext>
            </a:extLst>
          </p:cNvPr>
          <p:cNvSpPr>
            <a:spLocks noGrp="1"/>
          </p:cNvSpPr>
          <p:nvPr/>
        </p:nvSpPr>
        <p:spPr>
          <a:xfrm>
            <a:off x="895350" y="288607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413" name="impact-citizen-title">
            <a:extLst>
              <a:ext uri="{FF2B5EF4-FFF2-40B4-BE49-F238E27FC236}">
                <a16:creationId xmlns:a16="http://schemas.microsoft.com/office/drawing/2014/main" id="{D4A80942-159A-4DCF-BFD8-75D14AB989ED}"/>
              </a:ext>
            </a:extLst>
          </p:cNvPr>
          <p:cNvSpPr>
            <a:spLocks noGrp="1"/>
          </p:cNvSpPr>
          <p:nvPr/>
        </p:nvSpPr>
        <p:spPr>
          <a:xfrm>
            <a:off x="1447800" y="2895600"/>
            <a:ext cx="190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72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Citizens</a:t>
            </a:r>
          </a:p>
        </p:txBody>
      </p:sp>
      <p:sp>
        <p:nvSpPr>
          <p:cNvPr id="17414" name="impact-citizen-copy">
            <a:extLst>
              <a:ext uri="{FF2B5EF4-FFF2-40B4-BE49-F238E27FC236}">
                <a16:creationId xmlns:a16="http://schemas.microsoft.com/office/drawing/2014/main" id="{7435D16F-D929-412A-9518-A8432DCE8B15}"/>
              </a:ext>
            </a:extLst>
          </p:cNvPr>
          <p:cNvSpPr>
            <a:spLocks noGrp="1"/>
          </p:cNvSpPr>
          <p:nvPr/>
        </p:nvSpPr>
        <p:spPr>
          <a:xfrm>
            <a:off x="914400" y="3381375"/>
            <a:ext cx="24574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ctr">
              <a:defRPr sz="1275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63746"/>
                </a:solidFill>
                <a:latin typeface="Arial"/>
                <a:ea typeface="Arial"/>
                <a:cs typeface="Arial"/>
              </a:rPr>
              <a:t>Search by owner, village,</a:t>
            </a:r>
          </a:p>
          <a:p>
            <a:pPr algn="ctr">
              <a:defRPr sz="1275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63746"/>
                </a:solidFill>
                <a:latin typeface="Arial"/>
                <a:ea typeface="Arial"/>
                <a:cs typeface="Arial"/>
              </a:rPr>
              <a:t>khatian and plot</a:t>
            </a:r>
          </a:p>
        </p:txBody>
      </p:sp>
      <p:sp>
        <p:nvSpPr>
          <p:cNvPr id="17415" name="impact-record-repository">
            <a:extLst>
              <a:ext uri="{FF2B5EF4-FFF2-40B4-BE49-F238E27FC236}">
                <a16:creationId xmlns:a16="http://schemas.microsoft.com/office/drawing/2014/main" id="{7131FC68-CD27-4640-A152-94E49ED29C52}"/>
              </a:ext>
            </a:extLst>
          </p:cNvPr>
          <p:cNvSpPr>
            <a:spLocks noGrp="1"/>
          </p:cNvSpPr>
          <p:nvPr/>
        </p:nvSpPr>
        <p:spPr>
          <a:xfrm>
            <a:off x="4667250" y="2886075"/>
            <a:ext cx="2857500" cy="1162050"/>
          </a:xfrm>
          <a:prstGeom prst="roundRect">
            <a:avLst>
              <a:gd name="adj" fmla="val 6557"/>
            </a:avLst>
          </a:prstGeom>
          <a:solidFill>
            <a:srgbClr val="0070C0"/>
          </a:solidFill>
          <a:ln w="14288">
            <a:solidFill>
              <a:srgbClr val="1F497D"/>
            </a:solidFill>
            <a:prstDash val="solid"/>
          </a:ln>
        </p:spPr>
      </p:sp>
      <p:sp>
        <p:nvSpPr>
          <p:cNvPr id="17416" name="impact-record-icon">
            <a:extLst>
              <a:ext uri="{FF2B5EF4-FFF2-40B4-BE49-F238E27FC236}">
                <a16:creationId xmlns:a16="http://schemas.microsoft.com/office/drawing/2014/main" id="{0F66BC37-CC37-425C-968B-F3FC317DDF34}"/>
              </a:ext>
            </a:extLst>
          </p:cNvPr>
          <p:cNvSpPr>
            <a:spLocks noGrp="1"/>
          </p:cNvSpPr>
          <p:nvPr/>
        </p:nvSpPr>
        <p:spPr>
          <a:xfrm>
            <a:off x="4857750" y="3105150"/>
            <a:ext cx="476250" cy="4762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417" name="impact-record-glyph">
            <a:extLst>
              <a:ext uri="{FF2B5EF4-FFF2-40B4-BE49-F238E27FC236}">
                <a16:creationId xmlns:a16="http://schemas.microsoft.com/office/drawing/2014/main" id="{19A02343-14F7-4FFC-8814-59E6D5C89999}"/>
              </a:ext>
            </a:extLst>
          </p:cNvPr>
          <p:cNvSpPr>
            <a:spLocks noGrp="1"/>
          </p:cNvSpPr>
          <p:nvPr/>
        </p:nvSpPr>
        <p:spPr>
          <a:xfrm>
            <a:off x="4857750" y="310515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0C0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7418" name="impact-record-title">
            <a:extLst>
              <a:ext uri="{FF2B5EF4-FFF2-40B4-BE49-F238E27FC236}">
                <a16:creationId xmlns:a16="http://schemas.microsoft.com/office/drawing/2014/main" id="{74CC3A0D-F12A-46A0-901B-3AD160CEC465}"/>
              </a:ext>
            </a:extLst>
          </p:cNvPr>
          <p:cNvSpPr>
            <a:spLocks noGrp="1"/>
          </p:cNvSpPr>
          <p:nvPr/>
        </p:nvSpPr>
        <p:spPr>
          <a:xfrm>
            <a:off x="5448300" y="3038475"/>
            <a:ext cx="1952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980"/>
          </a:bodyPr>
          <a:lstStyle>
            <a:defPPr algn="l">
              <a:defRPr sz="14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4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4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4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4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4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4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4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4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4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4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Approved land records</a:t>
            </a:r>
          </a:p>
        </p:txBody>
      </p:sp>
      <p:sp>
        <p:nvSpPr>
          <p:cNvPr id="17419" name="impact-record-copy">
            <a:extLst>
              <a:ext uri="{FF2B5EF4-FFF2-40B4-BE49-F238E27FC236}">
                <a16:creationId xmlns:a16="http://schemas.microsoft.com/office/drawing/2014/main" id="{46A4FFA1-73DE-4D9D-A354-2C3BC5DDC9A7}"/>
              </a:ext>
            </a:extLst>
          </p:cNvPr>
          <p:cNvSpPr>
            <a:spLocks noGrp="1"/>
          </p:cNvSpPr>
          <p:nvPr/>
        </p:nvSpPr>
        <p:spPr>
          <a:xfrm>
            <a:off x="5486400" y="3409950"/>
            <a:ext cx="1857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63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163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163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163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163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163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163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163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163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163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63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FFFFFF"/>
                </a:solidFill>
                <a:latin typeface="Arial"/>
                <a:ea typeface="Arial"/>
                <a:cs typeface="Arial"/>
              </a:rPr>
              <a:t>Structured • validated • searchable</a:t>
            </a:r>
          </a:p>
        </p:txBody>
      </p:sp>
      <p:sp>
        <p:nvSpPr>
          <p:cNvPr id="17420" name="impact-officials">
            <a:extLst>
              <a:ext uri="{FF2B5EF4-FFF2-40B4-BE49-F238E27FC236}">
                <a16:creationId xmlns:a16="http://schemas.microsoft.com/office/drawing/2014/main" id="{48B783E6-A29C-4248-A296-5BD21AD9B2A9}"/>
              </a:ext>
            </a:extLst>
          </p:cNvPr>
          <p:cNvSpPr>
            <a:spLocks noGrp="1"/>
          </p:cNvSpPr>
          <p:nvPr/>
        </p:nvSpPr>
        <p:spPr>
          <a:xfrm>
            <a:off x="8620125" y="2714625"/>
            <a:ext cx="2857500" cy="1428750"/>
          </a:xfrm>
          <a:prstGeom prst="roundRect">
            <a:avLst>
              <a:gd name="adj" fmla="val 5333"/>
            </a:avLst>
          </a:prstGeom>
          <a:solidFill>
            <a:srgbClr val="EAF5F6"/>
          </a:solidFill>
          <a:ln w="14288">
            <a:solidFill>
              <a:srgbClr val="91C4C9"/>
            </a:solidFill>
            <a:prstDash val="solid"/>
          </a:ln>
        </p:spPr>
      </p:sp>
      <p:sp>
        <p:nvSpPr>
          <p:cNvPr id="17421" name="impact-official-icon">
            <a:extLst>
              <a:ext uri="{FF2B5EF4-FFF2-40B4-BE49-F238E27FC236}">
                <a16:creationId xmlns:a16="http://schemas.microsoft.com/office/drawing/2014/main" id="{DC47BCDB-FA00-4773-813A-4DC3DC898FD1}"/>
              </a:ext>
            </a:extLst>
          </p:cNvPr>
          <p:cNvSpPr>
            <a:spLocks noGrp="1"/>
          </p:cNvSpPr>
          <p:nvPr/>
        </p:nvSpPr>
        <p:spPr>
          <a:xfrm>
            <a:off x="8801100" y="2886075"/>
            <a:ext cx="400050" cy="400050"/>
          </a:xfrm>
          <a:prstGeom prst="ellipse">
            <a:avLst/>
          </a:prstGeom>
          <a:solidFill>
            <a:srgbClr val="167D8D"/>
          </a:solidFill>
          <a:ln w="9525">
            <a:solidFill>
              <a:srgbClr val="167D8D"/>
            </a:solidFill>
            <a:prstDash val="solid"/>
          </a:ln>
        </p:spPr>
      </p:sp>
      <p:sp>
        <p:nvSpPr>
          <p:cNvPr id="17422" name="impact-official-glyph">
            <a:extLst>
              <a:ext uri="{FF2B5EF4-FFF2-40B4-BE49-F238E27FC236}">
                <a16:creationId xmlns:a16="http://schemas.microsoft.com/office/drawing/2014/main" id="{A9231C6C-4489-4B79-8BD2-1C9859E76E78}"/>
              </a:ext>
            </a:extLst>
          </p:cNvPr>
          <p:cNvSpPr>
            <a:spLocks noGrp="1"/>
          </p:cNvSpPr>
          <p:nvPr/>
        </p:nvSpPr>
        <p:spPr>
          <a:xfrm>
            <a:off x="8801100" y="288607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17423" name="impact-official-title">
            <a:extLst>
              <a:ext uri="{FF2B5EF4-FFF2-40B4-BE49-F238E27FC236}">
                <a16:creationId xmlns:a16="http://schemas.microsoft.com/office/drawing/2014/main" id="{B72D15A8-C04F-4E13-B9ED-51726F4DF0BB}"/>
              </a:ext>
            </a:extLst>
          </p:cNvPr>
          <p:cNvSpPr>
            <a:spLocks noGrp="1"/>
          </p:cNvSpPr>
          <p:nvPr/>
        </p:nvSpPr>
        <p:spPr>
          <a:xfrm>
            <a:off x="9353550" y="2895600"/>
            <a:ext cx="190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Revenue staff</a:t>
            </a:r>
          </a:p>
        </p:txBody>
      </p:sp>
      <p:sp>
        <p:nvSpPr>
          <p:cNvPr id="17424" name="impact-official-copy">
            <a:extLst>
              <a:ext uri="{FF2B5EF4-FFF2-40B4-BE49-F238E27FC236}">
                <a16:creationId xmlns:a16="http://schemas.microsoft.com/office/drawing/2014/main" id="{C4DDE151-79C6-41BF-83FD-0FF0E6CCC59A}"/>
              </a:ext>
            </a:extLst>
          </p:cNvPr>
          <p:cNvSpPr>
            <a:spLocks noGrp="1"/>
          </p:cNvSpPr>
          <p:nvPr/>
        </p:nvSpPr>
        <p:spPr>
          <a:xfrm>
            <a:off x="8820150" y="3381375"/>
            <a:ext cx="24574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263746"/>
                </a:solidFill>
                <a:latin typeface="Arial"/>
                <a:ea typeface="Arial"/>
                <a:cs typeface="Arial"/>
              </a:rPr>
              <a:t>Dashboard • verification queue</a:t>
            </a:r>
          </a:p>
          <a:p>
            <a: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263746"/>
                </a:solidFill>
                <a:latin typeface="Arial"/>
                <a:ea typeface="Arial"/>
                <a:cs typeface="Arial"/>
              </a:rPr>
              <a:t>Analytics and progress views</a:t>
            </a:r>
          </a:p>
        </p:txBody>
      </p:sp>
      <p:sp>
        <p:nvSpPr>
          <p:cNvPr id="17425" name="impact-audit">
            <a:extLst>
              <a:ext uri="{FF2B5EF4-FFF2-40B4-BE49-F238E27FC236}">
                <a16:creationId xmlns:a16="http://schemas.microsoft.com/office/drawing/2014/main" id="{A202C855-6437-41C6-93D8-3DB4292F6DFF}"/>
              </a:ext>
            </a:extLst>
          </p:cNvPr>
          <p:cNvSpPr>
            <a:spLocks noGrp="1"/>
          </p:cNvSpPr>
          <p:nvPr/>
        </p:nvSpPr>
        <p:spPr>
          <a:xfrm>
            <a:off x="4667250" y="4762500"/>
            <a:ext cx="2857500" cy="952500"/>
          </a:xfrm>
          <a:prstGeom prst="roundRect">
            <a:avLst>
              <a:gd name="adj" fmla="val 8000"/>
            </a:avLst>
          </a:prstGeom>
          <a:solidFill>
            <a:srgbClr val="FFF5DF"/>
          </a:solidFill>
          <a:ln w="14288">
            <a:solidFill>
              <a:srgbClr val="D5B972"/>
            </a:solidFill>
            <a:prstDash val="solid"/>
          </a:ln>
        </p:spPr>
      </p:sp>
      <p:sp>
        <p:nvSpPr>
          <p:cNvPr id="17426" name="impact-audit-icon">
            <a:extLst>
              <a:ext uri="{FF2B5EF4-FFF2-40B4-BE49-F238E27FC236}">
                <a16:creationId xmlns:a16="http://schemas.microsoft.com/office/drawing/2014/main" id="{A426068D-4B01-4DA5-9DE7-161A3F45796E}"/>
              </a:ext>
            </a:extLst>
          </p:cNvPr>
          <p:cNvSpPr>
            <a:spLocks noGrp="1"/>
          </p:cNvSpPr>
          <p:nvPr/>
        </p:nvSpPr>
        <p:spPr>
          <a:xfrm>
            <a:off x="4857750" y="4972050"/>
            <a:ext cx="400050" cy="400050"/>
          </a:xfrm>
          <a:prstGeom prst="ellipse">
            <a:avLst/>
          </a:prstGeom>
          <a:solidFill>
            <a:srgbClr val="B57912"/>
          </a:solidFill>
          <a:ln w="9525">
            <a:solidFill>
              <a:srgbClr val="B57912"/>
            </a:solidFill>
            <a:prstDash val="solid"/>
          </a:ln>
        </p:spPr>
      </p:sp>
      <p:sp>
        <p:nvSpPr>
          <p:cNvPr id="17427" name="impact-audit-glyph">
            <a:extLst>
              <a:ext uri="{FF2B5EF4-FFF2-40B4-BE49-F238E27FC236}">
                <a16:creationId xmlns:a16="http://schemas.microsoft.com/office/drawing/2014/main" id="{B878AE4E-87C6-4B9A-9F9E-7DC8EDB3108F}"/>
              </a:ext>
            </a:extLst>
          </p:cNvPr>
          <p:cNvSpPr>
            <a:spLocks noGrp="1"/>
          </p:cNvSpPr>
          <p:nvPr/>
        </p:nvSpPr>
        <p:spPr>
          <a:xfrm>
            <a:off x="4857750" y="49720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7428" name="impact-audit-title">
            <a:extLst>
              <a:ext uri="{FF2B5EF4-FFF2-40B4-BE49-F238E27FC236}">
                <a16:creationId xmlns:a16="http://schemas.microsoft.com/office/drawing/2014/main" id="{E650A67E-7B61-4C05-8D90-6592D2E7BA68}"/>
              </a:ext>
            </a:extLst>
          </p:cNvPr>
          <p:cNvSpPr>
            <a:spLocks noGrp="1"/>
          </p:cNvSpPr>
          <p:nvPr/>
        </p:nvSpPr>
        <p:spPr>
          <a:xfrm>
            <a:off x="5410200" y="4867275"/>
            <a:ext cx="1943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7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17429" name="impact-audit-copy">
            <a:extLst>
              <a:ext uri="{FF2B5EF4-FFF2-40B4-BE49-F238E27FC236}">
                <a16:creationId xmlns:a16="http://schemas.microsoft.com/office/drawing/2014/main" id="{28560DD1-4547-4862-9C7A-B4BA9F3D1B25}"/>
              </a:ext>
            </a:extLst>
          </p:cNvPr>
          <p:cNvSpPr>
            <a:spLocks noGrp="1"/>
          </p:cNvSpPr>
          <p:nvPr/>
        </p:nvSpPr>
        <p:spPr>
          <a:xfrm>
            <a:off x="5410200" y="5200650"/>
            <a:ext cx="1943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750"/>
          </a:bodyPr>
          <a:lstStyle>
            <a:defPPr algn="l">
              <a:defRPr sz="120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l">
              <a:defRPr sz="120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defRPr sz="120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defRPr sz="120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defRPr sz="120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defRPr sz="120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defRPr sz="120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defRPr sz="120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defRPr sz="120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defRPr sz="120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63746"/>
                </a:solidFill>
                <a:latin typeface="Arial"/>
                <a:ea typeface="Arial"/>
                <a:cs typeface="Arial"/>
              </a:rPr>
              <a:t>Approvals + corrections logged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428" name="Straight Arrow Connector 17427">
            <a:extLst>
              <a:ext uri="{FF2B5EF4-FFF2-40B4-BE49-F238E27FC236}">
                <a16:creationId xmlns:a16="http://schemas.microsoft.com/office/drawing/2014/main" id="{7C019F64-B732-4EAB-8527-D18F8C08DF4E}"/>
              </a:ext>
            </a:extLst>
          </p:cNvPr>
          <p:cNvCxnSpPr>
            <a:stCxn id="17425" idx="1"/>
            <a:endCxn id="17410" idx="2"/>
          </p:cNvCxnSpPr>
          <p:nvPr/>
        </p:nvCxnSpPr>
        <p:spPr>
          <a:xfrm flipH="1" flipV="1">
            <a:off x="6096000" y="4114800"/>
            <a:ext cx="2476500" cy="962025"/>
          </a:xfrm>
          <a:prstGeom prst="straightConnector1">
            <a:avLst/>
          </a:prstGeom>
          <a:ln w="20003">
            <a:solidFill>
              <a:srgbClr val="B57912"/>
            </a:solidFill>
            <a:prstDash val="solid"/>
            <a:tailEnd type="arrow" w="med" len="med"/>
          </a:ln>
        </p:spPr>
      </p:cxnSp>
      <p:cxnSp>
        <p:nvCxnSpPr>
          <p:cNvPr id="17424" name="Straight Arrow Connector 17423">
            <a:extLst>
              <a:ext uri="{FF2B5EF4-FFF2-40B4-BE49-F238E27FC236}">
                <a16:creationId xmlns:a16="http://schemas.microsoft.com/office/drawing/2014/main" id="{D6BBD662-752D-4452-B3BF-C37C3B6AB9A2}"/>
              </a:ext>
            </a:extLst>
          </p:cNvPr>
          <p:cNvCxnSpPr>
            <a:stCxn id="17421" idx="3"/>
            <a:endCxn id="17410" idx="2"/>
          </p:cNvCxnSpPr>
          <p:nvPr/>
        </p:nvCxnSpPr>
        <p:spPr>
          <a:xfrm flipV="1">
            <a:off x="3619500" y="4114800"/>
            <a:ext cx="2476500" cy="962025"/>
          </a:xfrm>
          <a:prstGeom prst="straightConnector1">
            <a:avLst/>
          </a:prstGeom>
          <a:ln w="20003">
            <a:solidFill>
              <a:srgbClr val="1F497D"/>
            </a:solidFill>
            <a:prstDash val="solid"/>
            <a:tailEnd type="arrow" w="med" len="med"/>
          </a:ln>
        </p:spPr>
      </p:cxnSp>
      <p:cxnSp>
        <p:nvCxnSpPr>
          <p:cNvPr id="17420" name="Straight Arrow Connector 17419">
            <a:extLst>
              <a:ext uri="{FF2B5EF4-FFF2-40B4-BE49-F238E27FC236}">
                <a16:creationId xmlns:a16="http://schemas.microsoft.com/office/drawing/2014/main" id="{DD261139-A4AA-417B-BDD3-E9E13B273FFA}"/>
              </a:ext>
            </a:extLst>
          </p:cNvPr>
          <p:cNvCxnSpPr>
            <a:stCxn id="17417" idx="1"/>
            <a:endCxn id="17410" idx="0"/>
          </p:cNvCxnSpPr>
          <p:nvPr/>
        </p:nvCxnSpPr>
        <p:spPr>
          <a:xfrm flipH="1">
            <a:off x="6096000" y="2238375"/>
            <a:ext cx="2476500" cy="828675"/>
          </a:xfrm>
          <a:prstGeom prst="straightConnector1">
            <a:avLst/>
          </a:prstGeom>
          <a:ln w="20003">
            <a:solidFill>
              <a:srgbClr val="167D8D"/>
            </a:solidFill>
            <a:prstDash val="solid"/>
            <a:tailEnd type="arrow" w="med" len="med"/>
          </a:ln>
        </p:spPr>
      </p:cxnSp>
      <p:cxnSp>
        <p:nvCxnSpPr>
          <p:cNvPr id="17416" name="Straight Arrow Connector 17415">
            <a:extLst>
              <a:ext uri="{FF2B5EF4-FFF2-40B4-BE49-F238E27FC236}">
                <a16:creationId xmlns:a16="http://schemas.microsoft.com/office/drawing/2014/main" id="{F7F8198A-9D33-4E6A-A5FE-387098FBC39D}"/>
              </a:ext>
            </a:extLst>
          </p:cNvPr>
          <p:cNvCxnSpPr>
            <a:stCxn id="17413" idx="3"/>
            <a:endCxn id="17410" idx="0"/>
          </p:cNvCxnSpPr>
          <p:nvPr/>
        </p:nvCxnSpPr>
        <p:spPr>
          <a:xfrm>
            <a:off x="3619500" y="2238375"/>
            <a:ext cx="2476500" cy="828675"/>
          </a:xfrm>
          <a:prstGeom prst="straightConnector1">
            <a:avLst/>
          </a:prstGeom>
          <a:ln w="20003">
            <a:solidFill>
              <a:srgbClr val="1F497D"/>
            </a:solidFill>
            <a:prstDash val="solid"/>
            <a:tailEnd type="arrow" w="med" len="med"/>
          </a:ln>
        </p:spPr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Grp="1"/>
          </p:cNvSpPr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44AB3D0B-B206-4F71-B1AD-88A0ED37E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RESEARCH AND REFERENCES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A676C-EDD0-4EBA-98E3-BB2995ACF9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6</a:t>
            </a:fld>
            <a:endParaRPr sz="1200" b="1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8D31318-665B-4BF7-8BAA-064B10C5557B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Land Record System</a:t>
            </a:r>
            <a:endParaRPr sz="12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noGrp="1"/>
          </p:cNvSpPr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t>LRS AI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7D8267-E9EC-4853-A7AB-0B4B34A8D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ferences-project">
            <a:extLst>
              <a:ext uri="{FF2B5EF4-FFF2-40B4-BE49-F238E27FC236}">
                <a16:creationId xmlns:a16="http://schemas.microsoft.com/office/drawing/2014/main" id="{55CEF781-5875-4BBE-8790-093E9E2000FD}"/>
              </a:ext>
            </a:extLst>
          </p:cNvPr>
          <p:cNvSpPr>
            <a:spLocks noGrp="1"/>
          </p:cNvSpPr>
          <p:nvPr/>
        </p:nvSpPr>
        <p:spPr>
          <a:xfrm>
            <a:off x="4476750" y="3067050"/>
            <a:ext cx="3238500" cy="1047750"/>
          </a:xfrm>
          <a:prstGeom prst="roundRect">
            <a:avLst>
              <a:gd name="adj" fmla="val 7273"/>
            </a:avLst>
          </a:prstGeom>
          <a:solidFill>
            <a:srgbClr val="0070C0"/>
          </a:solidFill>
          <a:ln w="14288">
            <a:solidFill>
              <a:srgbClr val="1F497D"/>
            </a:solidFill>
            <a:prstDash val="solid"/>
          </a:ln>
        </p:spPr>
      </p:sp>
      <p:sp>
        <p:nvSpPr>
          <p:cNvPr id="17411" name="references-project-title">
            <a:extLst>
              <a:ext uri="{FF2B5EF4-FFF2-40B4-BE49-F238E27FC236}">
                <a16:creationId xmlns:a16="http://schemas.microsoft.com/office/drawing/2014/main" id="{B04832CE-0431-4367-8D3F-8AABBAB4C61F}"/>
              </a:ext>
            </a:extLst>
          </p:cNvPr>
          <p:cNvSpPr>
            <a:spLocks noGrp="1"/>
          </p:cNvSpPr>
          <p:nvPr/>
        </p:nvSpPr>
        <p:spPr>
          <a:xfrm>
            <a:off x="4676775" y="3209925"/>
            <a:ext cx="2838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LAND RECORD SYSTEM</a:t>
            </a:r>
          </a:p>
        </p:txBody>
      </p:sp>
      <p:sp>
        <p:nvSpPr>
          <p:cNvPr id="17412" name="references-project-detail">
            <a:extLst>
              <a:ext uri="{FF2B5EF4-FFF2-40B4-BE49-F238E27FC236}">
                <a16:creationId xmlns:a16="http://schemas.microsoft.com/office/drawing/2014/main" id="{C0CEDC39-F10F-4AB6-B9B9-D95C62758240}"/>
              </a:ext>
            </a:extLst>
          </p:cNvPr>
          <p:cNvSpPr>
            <a:spLocks noGrp="1"/>
          </p:cNvSpPr>
          <p:nvPr/>
        </p:nvSpPr>
        <p:spPr>
          <a:xfrm>
            <a:off x="4676775" y="3552825"/>
            <a:ext cx="2838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AI-assisted digitization workflow</a:t>
            </a:r>
          </a:p>
        </p:txBody>
      </p:sp>
      <p:sp>
        <p:nvSpPr>
          <p:cNvPr id="17413" name="reference-dilrmp">
            <a:extLst>
              <a:ext uri="{FF2B5EF4-FFF2-40B4-BE49-F238E27FC236}">
                <a16:creationId xmlns:a16="http://schemas.microsoft.com/office/drawing/2014/main" id="{35D6DFB9-3C3A-4B96-BBD3-9E0A079B500E}"/>
              </a:ext>
            </a:extLst>
          </p:cNvPr>
          <p:cNvSpPr>
            <a:spLocks noGrp="1"/>
          </p:cNvSpPr>
          <p:nvPr/>
        </p:nvSpPr>
        <p:spPr>
          <a:xfrm>
            <a:off x="762000" y="1676400"/>
            <a:ext cx="2857500" cy="1123950"/>
          </a:xfrm>
          <a:prstGeom prst="roundRect">
            <a:avLst>
              <a:gd name="adj" fmla="val 6780"/>
            </a:avLst>
          </a:prstGeom>
          <a:solidFill>
            <a:srgbClr val="EAF2F8"/>
          </a:solidFill>
          <a:ln w="14288">
            <a:solidFill>
              <a:srgbClr val="8EAECC"/>
            </a:solidFill>
            <a:prstDash val="solid"/>
          </a:ln>
        </p:spPr>
      </p:sp>
      <p:sp>
        <p:nvSpPr>
          <p:cNvPr id="17414" name="reference-dilrmp-title">
            <a:extLst>
              <a:ext uri="{FF2B5EF4-FFF2-40B4-BE49-F238E27FC236}">
                <a16:creationId xmlns:a16="http://schemas.microsoft.com/office/drawing/2014/main" id="{D5901534-A329-4527-9CF7-38410FA6AFF2}"/>
              </a:ext>
            </a:extLst>
          </p:cNvPr>
          <p:cNvSpPr>
            <a:spLocks noGrp="1"/>
          </p:cNvSpPr>
          <p:nvPr/>
        </p:nvSpPr>
        <p:spPr>
          <a:xfrm>
            <a:off x="933450" y="1828800"/>
            <a:ext cx="2514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497D"/>
                </a:solidFill>
                <a:latin typeface="Arial"/>
                <a:ea typeface="Arial"/>
                <a:cs typeface="Arial"/>
                <a:hlinkClick r:id="rId4"/>
              </a:rPr>
              <a:t>DILRMP programme</a:t>
            </a:r>
          </a:p>
        </p:txBody>
      </p:sp>
      <p:sp>
        <p:nvSpPr>
          <p:cNvPr id="17415" name="reference-dilrmp-detail">
            <a:extLst>
              <a:ext uri="{FF2B5EF4-FFF2-40B4-BE49-F238E27FC236}">
                <a16:creationId xmlns:a16="http://schemas.microsoft.com/office/drawing/2014/main" id="{9BAD41E2-CE33-4257-8E0D-4715E56FD9CD}"/>
              </a:ext>
            </a:extLst>
          </p:cNvPr>
          <p:cNvSpPr>
            <a:spLocks noGrp="1"/>
          </p:cNvSpPr>
          <p:nvPr/>
        </p:nvSpPr>
        <p:spPr>
          <a:xfrm>
            <a:off x="952500" y="2200275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263746"/>
                </a:solidFill>
                <a:latin typeface="Arial"/>
                <a:ea typeface="Arial"/>
                <a:cs typeface="Arial"/>
              </a:rPr>
              <a:t>Land-record modernization</a:t>
            </a:r>
          </a:p>
          <a:p>
            <a: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263746"/>
                </a:solidFill>
                <a:latin typeface="Arial"/>
                <a:ea typeface="Arial"/>
                <a:cs typeface="Arial"/>
              </a:rPr>
              <a:t>policy context</a:t>
            </a:r>
          </a:p>
        </p:txBody>
      </p:sp>
      <p:sp>
        <p:nvSpPr>
          <p:cNvPr id="17417" name="reference-gemini">
            <a:extLst>
              <a:ext uri="{FF2B5EF4-FFF2-40B4-BE49-F238E27FC236}">
                <a16:creationId xmlns:a16="http://schemas.microsoft.com/office/drawing/2014/main" id="{F6DB38A6-E676-42F9-94F4-0C3CF4FF6898}"/>
              </a:ext>
            </a:extLst>
          </p:cNvPr>
          <p:cNvSpPr>
            <a:spLocks noGrp="1"/>
          </p:cNvSpPr>
          <p:nvPr/>
        </p:nvSpPr>
        <p:spPr>
          <a:xfrm>
            <a:off x="8572500" y="1676400"/>
            <a:ext cx="2857500" cy="1123950"/>
          </a:xfrm>
          <a:prstGeom prst="roundRect">
            <a:avLst>
              <a:gd name="adj" fmla="val 6780"/>
            </a:avLst>
          </a:prstGeom>
          <a:solidFill>
            <a:srgbClr val="EAF5F6"/>
          </a:solidFill>
          <a:ln w="14288">
            <a:solidFill>
              <a:srgbClr val="91C4C9"/>
            </a:solidFill>
            <a:prstDash val="solid"/>
          </a:ln>
        </p:spPr>
      </p:sp>
      <p:sp>
        <p:nvSpPr>
          <p:cNvPr id="17418" name="reference-gemini-title">
            <a:extLst>
              <a:ext uri="{FF2B5EF4-FFF2-40B4-BE49-F238E27FC236}">
                <a16:creationId xmlns:a16="http://schemas.microsoft.com/office/drawing/2014/main" id="{11749CC2-14E6-41D4-A340-D5A2C785CCDA}"/>
              </a:ext>
            </a:extLst>
          </p:cNvPr>
          <p:cNvSpPr>
            <a:spLocks noGrp="1"/>
          </p:cNvSpPr>
          <p:nvPr/>
        </p:nvSpPr>
        <p:spPr>
          <a:xfrm>
            <a:off x="8743950" y="1828800"/>
            <a:ext cx="2514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00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500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7D8D"/>
                </a:solidFill>
                <a:latin typeface="Arial"/>
                <a:ea typeface="Arial"/>
                <a:cs typeface="Arial"/>
                <a:hlinkClick r:id="rId5"/>
              </a:rPr>
              <a:t>Gemini API docs</a:t>
            </a:r>
          </a:p>
        </p:txBody>
      </p:sp>
      <p:sp>
        <p:nvSpPr>
          <p:cNvPr id="17419" name="reference-gemini-detail">
            <a:extLst>
              <a:ext uri="{FF2B5EF4-FFF2-40B4-BE49-F238E27FC236}">
                <a16:creationId xmlns:a16="http://schemas.microsoft.com/office/drawing/2014/main" id="{F7AB535C-76C0-4E6D-B4E8-F14FB07FAC11}"/>
              </a:ext>
            </a:extLst>
          </p:cNvPr>
          <p:cNvSpPr>
            <a:spLocks noGrp="1"/>
          </p:cNvSpPr>
          <p:nvPr/>
        </p:nvSpPr>
        <p:spPr>
          <a:xfrm>
            <a:off x="8763000" y="2200275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263746"/>
                </a:solidFill>
                <a:latin typeface="Arial"/>
                <a:ea typeface="Arial"/>
                <a:cs typeface="Arial"/>
              </a:rPr>
              <a:t>Multimodal field extraction</a:t>
            </a:r>
          </a:p>
          <a:p>
            <a: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263746"/>
                </a:solidFill>
                <a:latin typeface="Arial"/>
                <a:ea typeface="Arial"/>
                <a:cs typeface="Arial"/>
              </a:rPr>
              <a:t>API reference</a:t>
            </a:r>
          </a:p>
        </p:txBody>
      </p:sp>
      <p:sp>
        <p:nvSpPr>
          <p:cNvPr id="17421" name="reference-tesseract">
            <a:extLst>
              <a:ext uri="{FF2B5EF4-FFF2-40B4-BE49-F238E27FC236}">
                <a16:creationId xmlns:a16="http://schemas.microsoft.com/office/drawing/2014/main" id="{1B9FA083-572D-407C-ABAF-E210B44E62D9}"/>
              </a:ext>
            </a:extLst>
          </p:cNvPr>
          <p:cNvSpPr>
            <a:spLocks noGrp="1"/>
          </p:cNvSpPr>
          <p:nvPr/>
        </p:nvSpPr>
        <p:spPr>
          <a:xfrm>
            <a:off x="762000" y="4514850"/>
            <a:ext cx="2857500" cy="1123950"/>
          </a:xfrm>
          <a:prstGeom prst="roundRect">
            <a:avLst>
              <a:gd name="adj" fmla="val 6780"/>
            </a:avLst>
          </a:prstGeom>
          <a:solidFill>
            <a:srgbClr val="F3F6F8"/>
          </a:solidFill>
          <a:ln w="14288">
            <a:solidFill>
              <a:srgbClr val="AEC1D1"/>
            </a:solidFill>
            <a:prstDash val="solid"/>
          </a:ln>
        </p:spPr>
      </p:sp>
      <p:sp>
        <p:nvSpPr>
          <p:cNvPr id="17422" name="reference-tesseract-title">
            <a:extLst>
              <a:ext uri="{FF2B5EF4-FFF2-40B4-BE49-F238E27FC236}">
                <a16:creationId xmlns:a16="http://schemas.microsoft.com/office/drawing/2014/main" id="{5EA684C1-BC02-4B7E-856E-F1CBADC6CD1F}"/>
              </a:ext>
            </a:extLst>
          </p:cNvPr>
          <p:cNvSpPr>
            <a:spLocks noGrp="1"/>
          </p:cNvSpPr>
          <p:nvPr/>
        </p:nvSpPr>
        <p:spPr>
          <a:xfrm>
            <a:off x="933450" y="4667250"/>
            <a:ext cx="2514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497D"/>
                </a:solidFill>
                <a:latin typeface="Arial"/>
                <a:ea typeface="Arial"/>
                <a:cs typeface="Arial"/>
                <a:hlinkClick r:id="rId6"/>
              </a:rPr>
              <a:t>Tesseract documentation</a:t>
            </a:r>
          </a:p>
        </p:txBody>
      </p:sp>
      <p:sp>
        <p:nvSpPr>
          <p:cNvPr id="17423" name="reference-tesseract-detail">
            <a:extLst>
              <a:ext uri="{FF2B5EF4-FFF2-40B4-BE49-F238E27FC236}">
                <a16:creationId xmlns:a16="http://schemas.microsoft.com/office/drawing/2014/main" id="{980C35F6-CAD0-438D-B94E-08856CA6E0FB}"/>
              </a:ext>
            </a:extLst>
          </p:cNvPr>
          <p:cNvSpPr>
            <a:spLocks noGrp="1"/>
          </p:cNvSpPr>
          <p:nvPr/>
        </p:nvSpPr>
        <p:spPr>
          <a:xfrm>
            <a:off x="952500" y="5038725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263746"/>
                </a:solidFill>
                <a:latin typeface="Arial"/>
                <a:ea typeface="Arial"/>
                <a:cs typeface="Arial"/>
              </a:rPr>
              <a:t>OCR engine and usage</a:t>
            </a:r>
          </a:p>
          <a:p>
            <a: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263746"/>
                </a:solidFill>
                <a:latin typeface="Arial"/>
                <a:ea typeface="Arial"/>
                <a:cs typeface="Arial"/>
              </a:rPr>
              <a:t>reference</a:t>
            </a:r>
          </a:p>
        </p:txBody>
      </p:sp>
      <p:sp>
        <p:nvSpPr>
          <p:cNvPr id="17425" name="reference-project">
            <a:extLst>
              <a:ext uri="{FF2B5EF4-FFF2-40B4-BE49-F238E27FC236}">
                <a16:creationId xmlns:a16="http://schemas.microsoft.com/office/drawing/2014/main" id="{2B1659C8-03A5-4CE4-8F38-96B9D135C44E}"/>
              </a:ext>
            </a:extLst>
          </p:cNvPr>
          <p:cNvSpPr>
            <a:spLocks noGrp="1"/>
          </p:cNvSpPr>
          <p:nvPr/>
        </p:nvSpPr>
        <p:spPr>
          <a:xfrm>
            <a:off x="8572500" y="4514850"/>
            <a:ext cx="2857500" cy="1123950"/>
          </a:xfrm>
          <a:prstGeom prst="roundRect">
            <a:avLst>
              <a:gd name="adj" fmla="val 6780"/>
            </a:avLst>
          </a:prstGeom>
          <a:solidFill>
            <a:srgbClr val="FFF5DF"/>
          </a:solidFill>
          <a:ln w="14288">
            <a:solidFill>
              <a:srgbClr val="D5B972"/>
            </a:solidFill>
            <a:prstDash val="solid"/>
          </a:ln>
        </p:spPr>
      </p:sp>
      <p:sp>
        <p:nvSpPr>
          <p:cNvPr id="17426" name="reference-project-title">
            <a:extLst>
              <a:ext uri="{FF2B5EF4-FFF2-40B4-BE49-F238E27FC236}">
                <a16:creationId xmlns:a16="http://schemas.microsoft.com/office/drawing/2014/main" id="{C46BB64E-561A-46B9-BDCC-A396796E0186}"/>
              </a:ext>
            </a:extLst>
          </p:cNvPr>
          <p:cNvSpPr>
            <a:spLocks noGrp="1"/>
          </p:cNvSpPr>
          <p:nvPr/>
        </p:nvSpPr>
        <p:spPr>
          <a:xfrm>
            <a:off x="8743950" y="4667250"/>
            <a:ext cx="2514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00" b="1">
                <a:solidFill>
                  <a:srgbClr val="B57912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B57912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B57912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B57912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B57912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B57912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B57912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B57912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B57912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B57912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500" b="1">
                <a:solidFill>
                  <a:srgbClr val="B5791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57912"/>
                </a:solidFill>
                <a:latin typeface="Arial"/>
                <a:ea typeface="Arial"/>
                <a:cs typeface="Arial"/>
              </a:rPr>
              <a:t>Project README + source</a:t>
            </a:r>
          </a:p>
        </p:txBody>
      </p:sp>
      <p:sp>
        <p:nvSpPr>
          <p:cNvPr id="17427" name="reference-project-detail">
            <a:extLst>
              <a:ext uri="{FF2B5EF4-FFF2-40B4-BE49-F238E27FC236}">
                <a16:creationId xmlns:a16="http://schemas.microsoft.com/office/drawing/2014/main" id="{A909A15F-9207-4EC8-9C89-6BAD1BAA4A5E}"/>
              </a:ext>
            </a:extLst>
          </p:cNvPr>
          <p:cNvSpPr>
            <a:spLocks noGrp="1"/>
          </p:cNvSpPr>
          <p:nvPr/>
        </p:nvSpPr>
        <p:spPr>
          <a:xfrm>
            <a:off x="8763000" y="5038725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263746"/>
                </a:solidFill>
                <a:latin typeface="Arial"/>
                <a:ea typeface="Arial"/>
                <a:cs typeface="Arial"/>
              </a:rPr>
              <a:t>Stack, confidence rules</a:t>
            </a:r>
          </a:p>
          <a:p>
            <a:pPr algn="ctr">
              <a:defRPr sz="1238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263746"/>
                </a:solidFill>
                <a:latin typeface="Arial"/>
                <a:ea typeface="Arial"/>
                <a:cs typeface="Arial"/>
              </a:rPr>
              <a:t>and application workflow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399</Words>
  <Application>Microsoft Office PowerPoint</Application>
  <DocSecurity>0</DocSecurity>
  <PresentationFormat>Widescreen</PresentationFormat>
  <Paragraphs>120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Garamond</vt:lpstr>
      <vt:lpstr>Times New Roman</vt:lpstr>
      <vt:lpstr>TradeGothic</vt:lpstr>
      <vt:lpstr>Office Theme</vt:lpstr>
      <vt:lpstr>LAND RECORD SYSTEM</vt:lpstr>
      <vt:lpstr> LAND RECORD DIGITIZATION</vt:lpstr>
      <vt:lpstr>TECHNICAL APPROACH</vt:lpstr>
      <vt:lpstr>FEASIBILITY AND VIABILITY</vt:lpstr>
      <vt:lpstr>IMPACT AND BENEFITS</vt:lpstr>
      <vt:lpstr>RESEARCH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Sahnwas Hussain</cp:lastModifiedBy>
  <cp:revision>1</cp:revision>
  <dcterms:created xsi:type="dcterms:W3CDTF">2026-10-22T19:23:44Z</dcterms:created>
  <dcterms:modified xsi:type="dcterms:W3CDTF">2026-10-22T19:27:02Z</dcterms:modified>
</cp:coreProperties>
</file>